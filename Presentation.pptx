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</p:sldMasterIdLst>
  <p:notesMasterIdLst>
    <p:notesMasterId r:id="rId15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</p:sldIdLst>
  <p:sldSz cx="14630400" cy="8697913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desplazar la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diapositiva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150980E-AD42-46CE-BD97-6949F6C07B88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0A39C1-CEC1-4580-8904-B7A61ADE52C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A84BE6-C4CA-4CB9-9947-E9FBD1F9131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E68127-CEB3-49C9-9483-5D9E776EC08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D96C77-D0DD-45E3-A781-314248C4E63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856B5D-43A2-4A43-8F82-63A1779A501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0BBBE7-622F-44FD-B67D-F7151DCDD1E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9C53C7-EE45-45D4-B10F-D3A031D74B4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904AB0-2E68-4104-A636-CA526B46098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ABF92B-77BC-4C36-909B-AE14E3D5EE1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625D1C-4540-4932-8568-F4D19200CFE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AC2A24-20C3-4847-B362-48EA24DB73B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06F634-28CF-48C4-BF93-3F2FB41EB2D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360"/>
            <a:ext cx="14627880" cy="8695080"/>
          </a:xfrm>
          <a:prstGeom prst="rect">
            <a:avLst/>
          </a:prstGeom>
          <a:solidFill>
            <a:srgbClr val="dec8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360"/>
            <a:ext cx="14627880" cy="8695080"/>
          </a:xfrm>
          <a:prstGeom prst="rect">
            <a:avLst/>
          </a:prstGeom>
          <a:solidFill>
            <a:srgbClr val="fffff4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8190000"/>
            <a:ext cx="1720080" cy="4323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47040"/>
            <a:ext cx="13167000" cy="145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2035080"/>
            <a:ext cx="13167000" cy="504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ffffff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ffffff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ffffff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0" y="360"/>
            <a:ext cx="14627880" cy="8695080"/>
          </a:xfrm>
          <a:prstGeom prst="rect">
            <a:avLst/>
          </a:prstGeom>
          <a:solidFill>
            <a:srgbClr val="dec8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Shape 1"/>
          <p:cNvSpPr/>
          <p:nvPr/>
        </p:nvSpPr>
        <p:spPr>
          <a:xfrm>
            <a:off x="0" y="360"/>
            <a:ext cx="14627880" cy="8695080"/>
          </a:xfrm>
          <a:prstGeom prst="rect">
            <a:avLst/>
          </a:prstGeom>
          <a:solidFill>
            <a:srgbClr val="fffff4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8190000"/>
            <a:ext cx="1720080" cy="43236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47040"/>
            <a:ext cx="13167000" cy="145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31520" y="2035080"/>
            <a:ext cx="13167000" cy="504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ffffff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ffffff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ffffff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360"/>
            <a:ext cx="14627880" cy="8695080"/>
          </a:xfrm>
          <a:prstGeom prst="rect">
            <a:avLst/>
          </a:prstGeom>
          <a:solidFill>
            <a:srgbClr val="dec8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360"/>
            <a:ext cx="14627880" cy="8695080"/>
          </a:xfrm>
          <a:prstGeom prst="rect">
            <a:avLst/>
          </a:prstGeom>
          <a:solidFill>
            <a:srgbClr val="fffff4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8190000"/>
            <a:ext cx="1720080" cy="43236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31520" y="347040"/>
            <a:ext cx="13167000" cy="145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Pulse para </a:t>
            </a:r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editar el formato </a:t>
            </a:r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del texto de </a:t>
            </a:r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título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31520" y="2035080"/>
            <a:ext cx="13167000" cy="504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ffffff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ffffff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ffffff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360"/>
            <a:ext cx="14627880" cy="8695080"/>
          </a:xfrm>
          <a:prstGeom prst="rect">
            <a:avLst/>
          </a:prstGeom>
          <a:solidFill>
            <a:srgbClr val="dec8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0" y="360"/>
            <a:ext cx="14627880" cy="8695080"/>
          </a:xfrm>
          <a:prstGeom prst="rect">
            <a:avLst/>
          </a:prstGeom>
          <a:solidFill>
            <a:srgbClr val="fffff4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8190000"/>
            <a:ext cx="1720080" cy="43236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47040"/>
            <a:ext cx="13167000" cy="145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Pulse para editar el formato del texto de </a:t>
            </a:r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título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2035080"/>
            <a:ext cx="13167000" cy="504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ffffff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ffffff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ffffff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360"/>
            <a:ext cx="14627880" cy="8695080"/>
          </a:xfrm>
          <a:prstGeom prst="rect">
            <a:avLst/>
          </a:prstGeom>
          <a:solidFill>
            <a:srgbClr val="dec8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360"/>
            <a:ext cx="14627880" cy="8695080"/>
          </a:xfrm>
          <a:prstGeom prst="rect">
            <a:avLst/>
          </a:prstGeom>
          <a:solidFill>
            <a:srgbClr val="fffff4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8190000"/>
            <a:ext cx="1720080" cy="432360"/>
          </a:xfrm>
          <a:prstGeom prst="rect">
            <a:avLst/>
          </a:prstGeom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31520" y="347040"/>
            <a:ext cx="13167000" cy="145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Pulse para editar el </a:t>
            </a:r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formato del texto de </a:t>
            </a:r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título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31520" y="2035080"/>
            <a:ext cx="13167000" cy="504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ffffff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ffffff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ffffff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360"/>
            <a:ext cx="14627880" cy="8695080"/>
          </a:xfrm>
          <a:prstGeom prst="rect">
            <a:avLst/>
          </a:prstGeom>
          <a:solidFill>
            <a:srgbClr val="dec8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0" y="360"/>
            <a:ext cx="14627880" cy="8695080"/>
          </a:xfrm>
          <a:prstGeom prst="rect">
            <a:avLst/>
          </a:prstGeom>
          <a:solidFill>
            <a:srgbClr val="fffff4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8190000"/>
            <a:ext cx="1720080" cy="432360"/>
          </a:xfrm>
          <a:prstGeom prst="rect">
            <a:avLst/>
          </a:prstGeom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31520" y="347040"/>
            <a:ext cx="13167000" cy="145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Pulse para editar </a:t>
            </a:r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el formato del </a:t>
            </a:r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texto de título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31520" y="2035080"/>
            <a:ext cx="13167000" cy="504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ffffff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ffffff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ffffff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360"/>
            <a:ext cx="14627880" cy="8695080"/>
          </a:xfrm>
          <a:prstGeom prst="rect">
            <a:avLst/>
          </a:prstGeom>
          <a:solidFill>
            <a:srgbClr val="dec8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0" y="360"/>
            <a:ext cx="14627880" cy="8695080"/>
          </a:xfrm>
          <a:prstGeom prst="rect">
            <a:avLst/>
          </a:prstGeom>
          <a:solidFill>
            <a:srgbClr val="fffff4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8190000"/>
            <a:ext cx="1720080" cy="432360"/>
          </a:xfrm>
          <a:prstGeom prst="rect">
            <a:avLst/>
          </a:prstGeom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31520" y="347040"/>
            <a:ext cx="13167000" cy="145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Pulse para editar el </a:t>
            </a:r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formato del texto de </a:t>
            </a:r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título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31520" y="2035080"/>
            <a:ext cx="13167000" cy="504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ffffff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ffffff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ffffff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360"/>
            <a:ext cx="14627880" cy="8695080"/>
          </a:xfrm>
          <a:prstGeom prst="rect">
            <a:avLst/>
          </a:prstGeom>
          <a:solidFill>
            <a:srgbClr val="dec8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1"/>
          <p:cNvSpPr/>
          <p:nvPr/>
        </p:nvSpPr>
        <p:spPr>
          <a:xfrm>
            <a:off x="0" y="360"/>
            <a:ext cx="14627880" cy="8695080"/>
          </a:xfrm>
          <a:prstGeom prst="rect">
            <a:avLst/>
          </a:prstGeom>
          <a:solidFill>
            <a:srgbClr val="fffff4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8190000"/>
            <a:ext cx="1720080" cy="432360"/>
          </a:xfrm>
          <a:prstGeom prst="rect">
            <a:avLst/>
          </a:prstGeom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47040"/>
            <a:ext cx="13167000" cy="145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Pulse para </a:t>
            </a:r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editar el formato </a:t>
            </a:r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del texto de </a:t>
            </a:r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título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2035080"/>
            <a:ext cx="13167000" cy="504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ffffff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ffffff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ffffff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360"/>
            <a:ext cx="14627880" cy="8695080"/>
          </a:xfrm>
          <a:prstGeom prst="rect">
            <a:avLst/>
          </a:prstGeom>
          <a:solidFill>
            <a:srgbClr val="dec8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360"/>
            <a:ext cx="14627880" cy="8695080"/>
          </a:xfrm>
          <a:prstGeom prst="rect">
            <a:avLst/>
          </a:prstGeom>
          <a:solidFill>
            <a:srgbClr val="fffff4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8190000"/>
            <a:ext cx="1720080" cy="43236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31520" y="347040"/>
            <a:ext cx="13167000" cy="145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31520" y="2035080"/>
            <a:ext cx="13167000" cy="504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ffffff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ffffff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ffffff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360"/>
            <a:ext cx="14627880" cy="8695080"/>
          </a:xfrm>
          <a:prstGeom prst="rect">
            <a:avLst/>
          </a:prstGeom>
          <a:solidFill>
            <a:srgbClr val="dec8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1"/>
          <p:cNvSpPr/>
          <p:nvPr/>
        </p:nvSpPr>
        <p:spPr>
          <a:xfrm>
            <a:off x="0" y="360"/>
            <a:ext cx="14627880" cy="8695080"/>
          </a:xfrm>
          <a:prstGeom prst="rect">
            <a:avLst/>
          </a:prstGeom>
          <a:solidFill>
            <a:srgbClr val="fffff4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8190000"/>
            <a:ext cx="1720080" cy="432360"/>
          </a:xfrm>
          <a:prstGeom prst="rect">
            <a:avLst/>
          </a:prstGeom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31520" y="347040"/>
            <a:ext cx="13167000" cy="145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31520" y="2035080"/>
            <a:ext cx="13167000" cy="504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ffffff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ffffff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ffffff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0"/>
          <p:cNvSpPr/>
          <p:nvPr/>
        </p:nvSpPr>
        <p:spPr>
          <a:xfrm>
            <a:off x="0" y="360"/>
            <a:ext cx="14627880" cy="8695080"/>
          </a:xfrm>
          <a:prstGeom prst="rect">
            <a:avLst/>
          </a:prstGeom>
          <a:solidFill>
            <a:srgbClr val="dec8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1"/>
          <p:cNvSpPr/>
          <p:nvPr/>
        </p:nvSpPr>
        <p:spPr>
          <a:xfrm>
            <a:off x="0" y="360"/>
            <a:ext cx="14627880" cy="8695080"/>
          </a:xfrm>
          <a:prstGeom prst="rect">
            <a:avLst/>
          </a:prstGeom>
          <a:solidFill>
            <a:srgbClr val="fffff4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8190000"/>
            <a:ext cx="1720080" cy="432360"/>
          </a:xfrm>
          <a:prstGeom prst="rect">
            <a:avLst/>
          </a:prstGeom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31520" y="347040"/>
            <a:ext cx="13167000" cy="145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731520" y="2035080"/>
            <a:ext cx="13167000" cy="504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ffffff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ffffff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ffffff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360"/>
            <a:ext cx="14627880" cy="8695080"/>
          </a:xfrm>
          <a:prstGeom prst="rect">
            <a:avLst/>
          </a:prstGeom>
          <a:solidFill>
            <a:srgbClr val="dec8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"/>
          <p:cNvSpPr/>
          <p:nvPr/>
        </p:nvSpPr>
        <p:spPr>
          <a:xfrm>
            <a:off x="0" y="360"/>
            <a:ext cx="14627880" cy="8695080"/>
          </a:xfrm>
          <a:prstGeom prst="rect">
            <a:avLst/>
          </a:prstGeom>
          <a:solidFill>
            <a:srgbClr val="fffff4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8190000"/>
            <a:ext cx="1720080" cy="432360"/>
          </a:xfrm>
          <a:prstGeom prst="rect">
            <a:avLst/>
          </a:prstGeom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731520" y="347040"/>
            <a:ext cx="13167000" cy="145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ffffff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731520" y="2035080"/>
            <a:ext cx="13167000" cy="504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ffffff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ffffff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ffffff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ffffff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793800" y="878400"/>
            <a:ext cx="13040280" cy="20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7801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532418"/>
                </a:solidFill>
                <a:latin typeface="Marcellus"/>
                <a:ea typeface="Marcellus"/>
              </a:rPr>
              <a:t>Análisis Estadístico de Películas Blockbuster</a:t>
            </a:r>
            <a:endParaRPr b="0" lang="es-E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793800" y="3239640"/>
            <a:ext cx="5369400" cy="91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3399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532418"/>
                </a:solidFill>
                <a:latin typeface="Marcellus"/>
                <a:ea typeface="Marcellus"/>
              </a:rPr>
              <a:t>(1977-2019)</a:t>
            </a:r>
            <a:endParaRPr b="0" lang="es-ES" sz="2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ts val="3399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532418"/>
                </a:solidFill>
                <a:latin typeface="Marcellus"/>
                <a:ea typeface="Marcellus"/>
              </a:rPr>
              <a:t>Proyecto Final - Estadística Aplicada</a:t>
            </a:r>
            <a:endParaRPr b="0" lang="es-E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793800" y="4412880"/>
            <a:ext cx="1304028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793800" y="4917600"/>
            <a:ext cx="583020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99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532418"/>
                </a:solidFill>
                <a:latin typeface="Marcellus"/>
                <a:ea typeface="Marcellus"/>
              </a:rPr>
              <a:t>Universidad de La Habana | MATCOM</a:t>
            </a:r>
            <a:endParaRPr b="0" lang="es-E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793800" y="5634000"/>
            <a:ext cx="1304028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793800" y="6138360"/>
            <a:ext cx="2769120" cy="3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01"/>
              </a:lnSpc>
              <a:tabLst>
                <a:tab algn="l" pos="0"/>
              </a:tabLst>
            </a:pPr>
            <a:r>
              <a:rPr b="0" lang="en-US" sz="2150" spc="-1" strike="noStrike">
                <a:solidFill>
                  <a:srgbClr val="532418"/>
                </a:solidFill>
                <a:latin typeface="Marcellus"/>
                <a:ea typeface="Marcellus"/>
              </a:rPr>
              <a:t>Integrantes:</a:t>
            </a:r>
            <a:endParaRPr b="0" lang="es-ES" sz="2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793800" y="6779160"/>
            <a:ext cx="130402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800"/>
              </a:lnSpc>
              <a:buClr>
                <a:srgbClr val="67534f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67534f"/>
                </a:solidFill>
                <a:latin typeface="Montserrat"/>
                <a:ea typeface="Montserrat"/>
              </a:rPr>
              <a:t> </a:t>
            </a:r>
            <a:r>
              <a:rPr b="0" lang="en-US" sz="1500" spc="-1" strike="noStrike">
                <a:solidFill>
                  <a:srgbClr val="67534f"/>
                </a:solidFill>
                <a:latin typeface="Montserrat"/>
                <a:ea typeface="Montserrat"/>
              </a:rPr>
              <a:t>Ronald Provance Valladares C312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793800" y="7145640"/>
            <a:ext cx="130402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800"/>
              </a:lnSpc>
              <a:buClr>
                <a:srgbClr val="67534f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67534f"/>
                </a:solidFill>
                <a:latin typeface="Montserrat"/>
                <a:ea typeface="Montserrat"/>
              </a:rPr>
              <a:t>Agustin Alberto Carbajal Romero C312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793800" y="7512120"/>
            <a:ext cx="130402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800"/>
              </a:lnSpc>
              <a:buClr>
                <a:srgbClr val="67534f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67534f"/>
                </a:solidFill>
                <a:latin typeface="Montserrat"/>
                <a:ea typeface="Montserrat"/>
              </a:rPr>
              <a:t>Dylan Ramsés Cabrera Morales C312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793800" y="1348200"/>
            <a:ext cx="13040280" cy="24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9201"/>
              </a:lnSpc>
              <a:tabLst>
                <a:tab algn="l" pos="0"/>
              </a:tabLst>
            </a:pPr>
            <a:r>
              <a:rPr b="0" lang="en-US" sz="7050" spc="-1" strike="noStrike">
                <a:solidFill>
                  <a:srgbClr val="532418"/>
                </a:solidFill>
                <a:latin typeface="Marcellus"/>
                <a:ea typeface="Marcellus"/>
              </a:rPr>
              <a:t>Objetivos y Preguntas de Investigación</a:t>
            </a:r>
            <a:endParaRPr b="0" lang="es-ES" sz="7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793800" y="4180680"/>
            <a:ext cx="1063764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00"/>
              </a:lnSpc>
              <a:tabLst>
                <a:tab algn="l" pos="0"/>
              </a:tabLst>
            </a:pPr>
            <a:r>
              <a:rPr b="0" lang="en-US" sz="2550" spc="-1" strike="noStrike">
                <a:solidFill>
                  <a:srgbClr val="532418"/>
                </a:solidFill>
                <a:latin typeface="Marcellus"/>
                <a:ea typeface="Marcellus"/>
              </a:rPr>
              <a:t>La industria cinematográfica mueve miles de millones de dólares anuales</a:t>
            </a:r>
            <a:endParaRPr b="0" lang="es-ES" sz="2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793800" y="4724640"/>
            <a:ext cx="1120356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00"/>
              </a:lnSpc>
              <a:tabLst>
                <a:tab algn="l" pos="0"/>
              </a:tabLst>
            </a:pPr>
            <a:r>
              <a:rPr b="0" lang="en-US" sz="2550" spc="-1" strike="noStrike">
                <a:solidFill>
                  <a:srgbClr val="532418"/>
                </a:solidFill>
                <a:latin typeface="Marcellus"/>
                <a:ea typeface="Marcellus"/>
              </a:rPr>
              <a:t>Entender qué impulsa el éxito es fundamental para productores e inversores</a:t>
            </a:r>
            <a:endParaRPr b="0" lang="es-ES" sz="2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793800" y="5268600"/>
            <a:ext cx="485172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00"/>
              </a:lnSpc>
              <a:tabLst>
                <a:tab algn="l" pos="0"/>
              </a:tabLst>
            </a:pPr>
            <a:r>
              <a:rPr b="0" lang="en-US" sz="2550" spc="-1" strike="noStrike">
                <a:solidFill>
                  <a:srgbClr val="532418"/>
                </a:solidFill>
                <a:latin typeface="Marcellus"/>
                <a:ea typeface="Marcellus"/>
              </a:rPr>
              <a:t>PREGUNTAS DE INVESTIGACIÓN:</a:t>
            </a:r>
            <a:endParaRPr b="0" lang="es-ES" sz="2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793800" y="5812200"/>
            <a:ext cx="973008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00"/>
              </a:lnSpc>
              <a:tabLst>
                <a:tab algn="l" pos="0"/>
              </a:tabLst>
            </a:pPr>
            <a:r>
              <a:rPr b="0" lang="en-US" sz="2550" spc="-1" strike="noStrike">
                <a:solidFill>
                  <a:srgbClr val="532418"/>
                </a:solidFill>
                <a:latin typeface="Marcellus"/>
                <a:ea typeface="Marcellus"/>
              </a:rPr>
              <a:t>¿Qué factores influyen en la recaudación mundial de una película?</a:t>
            </a:r>
            <a:endParaRPr b="0" lang="es-ES" sz="2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793800" y="6356160"/>
            <a:ext cx="927360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00"/>
              </a:lnSpc>
              <a:tabLst>
                <a:tab algn="l" pos="0"/>
              </a:tabLst>
            </a:pPr>
            <a:r>
              <a:rPr b="0" lang="en-US" sz="2550" spc="-1" strike="noStrike">
                <a:solidFill>
                  <a:srgbClr val="532418"/>
                </a:solidFill>
                <a:latin typeface="Marcellus"/>
                <a:ea typeface="Marcellus"/>
              </a:rPr>
              <a:t>¿Podemos identificar clusters de películas según características?</a:t>
            </a:r>
            <a:endParaRPr b="0" lang="es-ES" sz="2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793800" y="6900120"/>
            <a:ext cx="921636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00"/>
              </a:lnSpc>
              <a:tabLst>
                <a:tab algn="l" pos="0"/>
              </a:tabLst>
            </a:pPr>
            <a:r>
              <a:rPr b="0" lang="en-US" sz="2550" spc="-1" strike="noStrike">
                <a:solidFill>
                  <a:srgbClr val="532418"/>
                </a:solidFill>
                <a:latin typeface="Marcellus"/>
                <a:ea typeface="Marcellus"/>
              </a:rPr>
              <a:t>¿Ha cambiado la recaudación promedio a lo largo del tiempo?</a:t>
            </a:r>
            <a:endParaRPr b="0" lang="es-ES" sz="25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793800" y="847440"/>
            <a:ext cx="624492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6001"/>
              </a:lnSpc>
              <a:tabLst>
                <a:tab algn="l" pos="0"/>
              </a:tabLst>
            </a:pPr>
            <a:r>
              <a:rPr b="0" lang="en-US" sz="4600" spc="-1" strike="noStrike">
                <a:solidFill>
                  <a:srgbClr val="532418"/>
                </a:solidFill>
                <a:latin typeface="Marcellus"/>
                <a:ea typeface="Marcellus"/>
              </a:rPr>
              <a:t>Descripción del Dataset</a:t>
            </a:r>
            <a:endParaRPr b="0" lang="es-E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1"/>
          <p:cNvSpPr/>
          <p:nvPr/>
        </p:nvSpPr>
        <p:spPr>
          <a:xfrm>
            <a:off x="793800" y="2149920"/>
            <a:ext cx="13040280" cy="32400"/>
          </a:xfrm>
          <a:prstGeom prst="rect">
            <a:avLst/>
          </a:prstGeom>
          <a:solidFill>
            <a:srgbClr val="67534f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1880" bIns="-1188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793800" y="2476080"/>
            <a:ext cx="351900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600"/>
              </a:lnSpc>
              <a:tabLst>
                <a:tab algn="l" pos="0"/>
              </a:tabLst>
            </a:pPr>
            <a:r>
              <a:rPr b="1" lang="en-US" sz="2750" spc="-1" strike="noStrike">
                <a:solidFill>
                  <a:srgbClr val="532418"/>
                </a:solidFill>
                <a:latin typeface="Marcellus"/>
                <a:ea typeface="Marcellus"/>
              </a:rPr>
              <a:t>DATASET:</a:t>
            </a:r>
            <a:endParaRPr b="0" lang="es-ES" sz="2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793800" y="3037680"/>
            <a:ext cx="293184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2300" spc="-1" strike="noStrike">
                <a:solidFill>
                  <a:srgbClr val="532418"/>
                </a:solidFill>
                <a:latin typeface="Marcellus"/>
                <a:ea typeface="Marcellus"/>
              </a:rPr>
              <a:t>Fuente: Kaggle</a:t>
            </a:r>
            <a:endParaRPr b="0" lang="es-E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4"/>
          <p:cNvSpPr/>
          <p:nvPr/>
        </p:nvSpPr>
        <p:spPr>
          <a:xfrm>
            <a:off x="793800" y="3518280"/>
            <a:ext cx="293184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2300" spc="-1" strike="noStrike">
                <a:solidFill>
                  <a:srgbClr val="532418"/>
                </a:solidFill>
                <a:latin typeface="Marcellus"/>
                <a:ea typeface="Marcellus"/>
              </a:rPr>
              <a:t>Período: 1977-2019</a:t>
            </a:r>
            <a:endParaRPr b="0" lang="es-E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793800" y="3999240"/>
            <a:ext cx="529776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2300" spc="-1" strike="noStrike">
                <a:solidFill>
                  <a:srgbClr val="532418"/>
                </a:solidFill>
                <a:latin typeface="Marcellus"/>
                <a:ea typeface="Marcellus"/>
              </a:rPr>
              <a:t>Observaciones: Top 10 películas por año</a:t>
            </a:r>
            <a:endParaRPr b="0" lang="es-E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793800" y="4479840"/>
            <a:ext cx="293184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2300" spc="-1" strike="noStrike">
                <a:solidFill>
                  <a:srgbClr val="532418"/>
                </a:solidFill>
                <a:latin typeface="Marcellus"/>
                <a:ea typeface="Marcellus"/>
              </a:rPr>
              <a:t>Total: 430 películas</a:t>
            </a:r>
            <a:endParaRPr b="0" lang="es-E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793800" y="4960800"/>
            <a:ext cx="384084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600"/>
              </a:lnSpc>
              <a:tabLst>
                <a:tab algn="l" pos="0"/>
              </a:tabLst>
            </a:pPr>
            <a:r>
              <a:rPr b="1" lang="en-US" sz="2750" spc="-1" strike="noStrike">
                <a:solidFill>
                  <a:srgbClr val="532418"/>
                </a:solidFill>
                <a:latin typeface="Marcellus"/>
                <a:ea typeface="Marcellus"/>
              </a:rPr>
              <a:t>VARIABLES PRINCIPALES:</a:t>
            </a:r>
            <a:endParaRPr b="0" lang="es-ES" sz="2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8"/>
          <p:cNvSpPr/>
          <p:nvPr/>
        </p:nvSpPr>
        <p:spPr>
          <a:xfrm>
            <a:off x="793800" y="5522400"/>
            <a:ext cx="356508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2300" spc="-1" strike="noStrike">
                <a:solidFill>
                  <a:srgbClr val="532418"/>
                </a:solidFill>
                <a:latin typeface="Marcellus"/>
                <a:ea typeface="Marcellus"/>
              </a:rPr>
              <a:t>Presupuesto: $15M - $365M</a:t>
            </a:r>
            <a:endParaRPr b="0" lang="es-E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9"/>
          <p:cNvSpPr/>
          <p:nvPr/>
        </p:nvSpPr>
        <p:spPr>
          <a:xfrm>
            <a:off x="793800" y="6003000"/>
            <a:ext cx="428616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2300" spc="-1" strike="noStrike">
                <a:solidFill>
                  <a:srgbClr val="532418"/>
                </a:solidFill>
                <a:latin typeface="Marcellus"/>
                <a:ea typeface="Marcellus"/>
              </a:rPr>
              <a:t>Recaudación: variables de riesgo</a:t>
            </a:r>
            <a:endParaRPr b="0" lang="es-E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10"/>
          <p:cNvSpPr/>
          <p:nvPr/>
        </p:nvSpPr>
        <p:spPr>
          <a:xfrm>
            <a:off x="793800" y="6483960"/>
            <a:ext cx="324900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2300" spc="-1" strike="noStrike">
                <a:solidFill>
                  <a:srgbClr val="532418"/>
                </a:solidFill>
                <a:latin typeface="Marcellus"/>
                <a:ea typeface="Marcellus"/>
              </a:rPr>
              <a:t>Rating IMDb: 1-10 escala</a:t>
            </a:r>
            <a:endParaRPr b="0" lang="es-E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11"/>
          <p:cNvSpPr/>
          <p:nvPr/>
        </p:nvSpPr>
        <p:spPr>
          <a:xfrm>
            <a:off x="793800" y="6964920"/>
            <a:ext cx="454248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2300" spc="-1" strike="noStrike">
                <a:solidFill>
                  <a:srgbClr val="532418"/>
                </a:solidFill>
                <a:latin typeface="Marcellus"/>
                <a:ea typeface="Marcellus"/>
              </a:rPr>
              <a:t>Género: Acción, Drama, Sci-Fi, etc.</a:t>
            </a:r>
            <a:endParaRPr b="0" lang="es-E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12"/>
          <p:cNvSpPr/>
          <p:nvPr/>
        </p:nvSpPr>
        <p:spPr>
          <a:xfrm>
            <a:off x="793800" y="7445520"/>
            <a:ext cx="462276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99"/>
              </a:lnSpc>
              <a:tabLst>
                <a:tab algn="l" pos="0"/>
              </a:tabLst>
            </a:pPr>
            <a:r>
              <a:rPr b="0" lang="en-US" sz="2300" spc="-1" strike="noStrike">
                <a:solidFill>
                  <a:srgbClr val="532418"/>
                </a:solidFill>
                <a:latin typeface="Marcellus"/>
                <a:ea typeface="Marcellus"/>
              </a:rPr>
              <a:t>Clasificación MPAA: G, PG, PG-13, R</a:t>
            </a:r>
            <a:endParaRPr b="0" lang="es-ES" sz="2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783720" y="650160"/>
            <a:ext cx="8642160" cy="7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899"/>
              </a:lnSpc>
              <a:tabLst>
                <a:tab algn="l" pos="0"/>
              </a:tabLst>
            </a:pPr>
            <a:r>
              <a:rPr b="0" lang="en-US" sz="4500" spc="-1" strike="noStrike">
                <a:solidFill>
                  <a:srgbClr val="532418"/>
                </a:solidFill>
                <a:latin typeface="Marcellus"/>
                <a:ea typeface="Marcellus"/>
              </a:rPr>
              <a:t>Análisis Exploratorio (Estadísticos)</a:t>
            </a:r>
            <a:endParaRPr b="0" lang="es-ES" sz="4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1"/>
          <p:cNvSpPr/>
          <p:nvPr/>
        </p:nvSpPr>
        <p:spPr>
          <a:xfrm>
            <a:off x="783720" y="1643760"/>
            <a:ext cx="13060440" cy="2129760"/>
          </a:xfrm>
          <a:prstGeom prst="roundRect">
            <a:avLst>
              <a:gd name="adj" fmla="val 3029"/>
            </a:avLst>
          </a:prstGeom>
          <a:noFill/>
          <a:ln w="7620">
            <a:solidFill>
              <a:srgbClr val="000000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Shape 2"/>
          <p:cNvSpPr/>
          <p:nvPr/>
        </p:nvSpPr>
        <p:spPr>
          <a:xfrm>
            <a:off x="791280" y="1651320"/>
            <a:ext cx="13045320" cy="42084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936720" y="1719720"/>
            <a:ext cx="20898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994c"/>
                </a:solidFill>
                <a:latin typeface="Marcellus"/>
                <a:ea typeface="Marcellus"/>
              </a:rPr>
              <a:t>VARIABLE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4202640" y="1719720"/>
            <a:ext cx="20898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994c"/>
                </a:solidFill>
                <a:latin typeface="Marcellus"/>
                <a:ea typeface="Marcellus"/>
              </a:rPr>
              <a:t>MEDIA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7464600" y="1719720"/>
            <a:ext cx="20898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994c"/>
                </a:solidFill>
                <a:latin typeface="Marcellus"/>
                <a:ea typeface="Marcellus"/>
              </a:rPr>
              <a:t>MEDIANA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10726560" y="1719720"/>
            <a:ext cx="20898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994c"/>
                </a:solidFill>
                <a:latin typeface="Marcellus"/>
                <a:ea typeface="Marcellus"/>
              </a:rPr>
              <a:t>DESV.EST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Shape 7"/>
          <p:cNvSpPr/>
          <p:nvPr/>
        </p:nvSpPr>
        <p:spPr>
          <a:xfrm>
            <a:off x="791280" y="2075040"/>
            <a:ext cx="13045320" cy="42084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936720" y="2142720"/>
            <a:ext cx="20898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32418"/>
                </a:solidFill>
                <a:latin typeface="Marcellus"/>
                <a:ea typeface="Marcellus"/>
              </a:rPr>
              <a:t>Presupuesto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4202640" y="2142720"/>
            <a:ext cx="20898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32418"/>
                </a:solidFill>
                <a:latin typeface="Marcellus"/>
                <a:ea typeface="Marcellus"/>
              </a:rPr>
              <a:t>$108.5M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10"/>
          <p:cNvSpPr/>
          <p:nvPr/>
        </p:nvSpPr>
        <p:spPr>
          <a:xfrm>
            <a:off x="7464600" y="2142720"/>
            <a:ext cx="20898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32418"/>
                </a:solidFill>
                <a:latin typeface="Marcellus"/>
                <a:ea typeface="Marcellus"/>
              </a:rPr>
              <a:t>$100.0M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1"/>
          <p:cNvSpPr/>
          <p:nvPr/>
        </p:nvSpPr>
        <p:spPr>
          <a:xfrm>
            <a:off x="10726560" y="2142720"/>
            <a:ext cx="20898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32418"/>
                </a:solidFill>
                <a:latin typeface="Marcellus"/>
                <a:ea typeface="Marcellus"/>
              </a:rPr>
              <a:t>$67.8M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12"/>
          <p:cNvSpPr/>
          <p:nvPr/>
        </p:nvSpPr>
        <p:spPr>
          <a:xfrm>
            <a:off x="791280" y="2498040"/>
            <a:ext cx="13045320" cy="42084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936720" y="2566080"/>
            <a:ext cx="20898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32418"/>
                </a:solidFill>
                <a:latin typeface="Marcellus"/>
                <a:ea typeface="Marcellus"/>
              </a:rPr>
              <a:t>Recaudación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14"/>
          <p:cNvSpPr/>
          <p:nvPr/>
        </p:nvSpPr>
        <p:spPr>
          <a:xfrm>
            <a:off x="4202640" y="2566080"/>
            <a:ext cx="20898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32418"/>
                </a:solidFill>
                <a:latin typeface="Marcellus"/>
                <a:ea typeface="Marcellus"/>
              </a:rPr>
              <a:t>$698.0M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15"/>
          <p:cNvSpPr/>
          <p:nvPr/>
        </p:nvSpPr>
        <p:spPr>
          <a:xfrm>
            <a:off x="7464600" y="2566080"/>
            <a:ext cx="20898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32418"/>
                </a:solidFill>
                <a:latin typeface="Marcellus"/>
                <a:ea typeface="Marcellus"/>
              </a:rPr>
              <a:t>$654.0M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16"/>
          <p:cNvSpPr/>
          <p:nvPr/>
        </p:nvSpPr>
        <p:spPr>
          <a:xfrm>
            <a:off x="10726560" y="2566080"/>
            <a:ext cx="20898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32418"/>
                </a:solidFill>
                <a:latin typeface="Marcellus"/>
                <a:ea typeface="Marcellus"/>
              </a:rPr>
              <a:t>$425.0M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17"/>
          <p:cNvSpPr/>
          <p:nvPr/>
        </p:nvSpPr>
        <p:spPr>
          <a:xfrm>
            <a:off x="791280" y="2921400"/>
            <a:ext cx="13045320" cy="42084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18"/>
          <p:cNvSpPr/>
          <p:nvPr/>
        </p:nvSpPr>
        <p:spPr>
          <a:xfrm>
            <a:off x="936720" y="2989080"/>
            <a:ext cx="20898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32418"/>
                </a:solidFill>
                <a:latin typeface="Marcellus"/>
                <a:ea typeface="Marcellus"/>
              </a:rPr>
              <a:t>Rating IMDb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19"/>
          <p:cNvSpPr/>
          <p:nvPr/>
        </p:nvSpPr>
        <p:spPr>
          <a:xfrm>
            <a:off x="4202640" y="2989080"/>
            <a:ext cx="20898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32418"/>
                </a:solidFill>
                <a:latin typeface="Marcellus"/>
                <a:ea typeface="Marcellus"/>
              </a:rPr>
              <a:t>6.87/10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20"/>
          <p:cNvSpPr/>
          <p:nvPr/>
        </p:nvSpPr>
        <p:spPr>
          <a:xfrm>
            <a:off x="7464600" y="2989080"/>
            <a:ext cx="20898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32418"/>
                </a:solidFill>
                <a:latin typeface="Marcellus"/>
                <a:ea typeface="Marcellus"/>
              </a:rPr>
              <a:t>6.90/10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21"/>
          <p:cNvSpPr/>
          <p:nvPr/>
        </p:nvSpPr>
        <p:spPr>
          <a:xfrm>
            <a:off x="10726560" y="2989080"/>
            <a:ext cx="20898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32418"/>
                </a:solidFill>
                <a:latin typeface="Marcellus"/>
                <a:ea typeface="Marcellus"/>
              </a:rPr>
              <a:t>0.95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22"/>
          <p:cNvSpPr/>
          <p:nvPr/>
        </p:nvSpPr>
        <p:spPr>
          <a:xfrm>
            <a:off x="791280" y="3344400"/>
            <a:ext cx="13045320" cy="42084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23"/>
          <p:cNvSpPr/>
          <p:nvPr/>
        </p:nvSpPr>
        <p:spPr>
          <a:xfrm>
            <a:off x="936720" y="3412800"/>
            <a:ext cx="20898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32418"/>
                </a:solidFill>
                <a:latin typeface="Marcellus"/>
                <a:ea typeface="Marcellus"/>
              </a:rPr>
              <a:t>ROI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24"/>
          <p:cNvSpPr/>
          <p:nvPr/>
        </p:nvSpPr>
        <p:spPr>
          <a:xfrm>
            <a:off x="4202640" y="3412800"/>
            <a:ext cx="20898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32418"/>
                </a:solidFill>
                <a:latin typeface="Marcellus"/>
                <a:ea typeface="Marcellus"/>
              </a:rPr>
              <a:t>6.43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25"/>
          <p:cNvSpPr/>
          <p:nvPr/>
        </p:nvSpPr>
        <p:spPr>
          <a:xfrm>
            <a:off x="7464600" y="3412800"/>
            <a:ext cx="20898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32418"/>
                </a:solidFill>
                <a:latin typeface="Marcellus"/>
                <a:ea typeface="Marcellus"/>
              </a:rPr>
              <a:t>5.52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26"/>
          <p:cNvSpPr/>
          <p:nvPr/>
        </p:nvSpPr>
        <p:spPr>
          <a:xfrm>
            <a:off x="10726560" y="3412800"/>
            <a:ext cx="20898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32418"/>
                </a:solidFill>
                <a:latin typeface="Marcellus"/>
                <a:ea typeface="Marcellus"/>
              </a:rPr>
              <a:t>6.21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27"/>
          <p:cNvSpPr/>
          <p:nvPr/>
        </p:nvSpPr>
        <p:spPr>
          <a:xfrm>
            <a:off x="783720" y="3925800"/>
            <a:ext cx="20898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32418"/>
                </a:solidFill>
                <a:latin typeface="Marcellus"/>
                <a:ea typeface="Marcellus"/>
              </a:rPr>
              <a:t>HALLAZGOS: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28"/>
          <p:cNvSpPr/>
          <p:nvPr/>
        </p:nvSpPr>
        <p:spPr>
          <a:xfrm>
            <a:off x="783720" y="4253040"/>
            <a:ext cx="481248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32418"/>
                </a:solidFill>
                <a:latin typeface="Marcellus"/>
                <a:ea typeface="Marcellus"/>
              </a:rPr>
              <a:t>Presupuestos varían mucho (mín $15M, máx $365M)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29"/>
          <p:cNvSpPr/>
          <p:nvPr/>
        </p:nvSpPr>
        <p:spPr>
          <a:xfrm>
            <a:off x="783720" y="4580640"/>
            <a:ext cx="547128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32418"/>
                </a:solidFill>
                <a:latin typeface="Marcellus"/>
                <a:ea typeface="Marcellus"/>
              </a:rPr>
              <a:t>Recaudación inconsistente (no siempre sigue presupuesto)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30"/>
          <p:cNvSpPr/>
          <p:nvPr/>
        </p:nvSpPr>
        <p:spPr>
          <a:xfrm>
            <a:off x="783720" y="4907880"/>
            <a:ext cx="277596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32418"/>
                </a:solidFill>
                <a:latin typeface="Marcellus"/>
                <a:ea typeface="Marcellus"/>
              </a:rPr>
              <a:t>Ratings altos (mayoría 6.5-7.5)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31"/>
          <p:cNvSpPr/>
          <p:nvPr/>
        </p:nvSpPr>
        <p:spPr>
          <a:xfrm>
            <a:off x="783720" y="5235120"/>
            <a:ext cx="395676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32418"/>
                </a:solidFill>
                <a:latin typeface="Marcellus"/>
                <a:ea typeface="Marcellus"/>
              </a:rPr>
              <a:t>ROI variable: algunos films &gt; 10x inversión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7" name="Image 0" descr="preencoded.png"/>
          <p:cNvPicPr/>
          <p:nvPr/>
        </p:nvPicPr>
        <p:blipFill>
          <a:blip r:embed="rId1"/>
          <a:stretch/>
        </p:blipFill>
        <p:spPr>
          <a:xfrm>
            <a:off x="1504440" y="5784840"/>
            <a:ext cx="2674440" cy="2150640"/>
          </a:xfrm>
          <a:prstGeom prst="rect">
            <a:avLst/>
          </a:prstGeom>
          <a:ln w="0">
            <a:noFill/>
          </a:ln>
        </p:spPr>
      </p:pic>
      <p:pic>
        <p:nvPicPr>
          <p:cNvPr id="128" name="Image 1" descr="preencoded.png"/>
          <p:cNvPicPr/>
          <p:nvPr/>
        </p:nvPicPr>
        <p:blipFill>
          <a:blip r:embed="rId2"/>
          <a:stretch/>
        </p:blipFill>
        <p:spPr>
          <a:xfrm>
            <a:off x="5985360" y="5785200"/>
            <a:ext cx="2673720" cy="2149920"/>
          </a:xfrm>
          <a:prstGeom prst="rect">
            <a:avLst/>
          </a:prstGeom>
          <a:ln w="0">
            <a:noFill/>
          </a:ln>
        </p:spPr>
      </p:pic>
      <p:pic>
        <p:nvPicPr>
          <p:cNvPr id="129" name="Image 2" descr="preencoded.png"/>
          <p:cNvPicPr/>
          <p:nvPr/>
        </p:nvPicPr>
        <p:blipFill>
          <a:blip r:embed="rId3"/>
          <a:stretch/>
        </p:blipFill>
        <p:spPr>
          <a:xfrm>
            <a:off x="10465200" y="5785200"/>
            <a:ext cx="2673720" cy="214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/>
          <p:nvPr/>
        </p:nvSpPr>
        <p:spPr>
          <a:xfrm>
            <a:off x="793800" y="658800"/>
            <a:ext cx="992016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7350"/>
              </a:lnSpc>
              <a:tabLst>
                <a:tab algn="l" pos="0"/>
              </a:tabLst>
            </a:pPr>
            <a:r>
              <a:rPr b="0" lang="en-US" sz="5650" spc="-1" strike="noStrike">
                <a:solidFill>
                  <a:srgbClr val="532418"/>
                </a:solidFill>
                <a:latin typeface="Marcellus"/>
                <a:ea typeface="Marcellus"/>
              </a:rPr>
              <a:t>Análisis Exploratorio (Patrones)</a:t>
            </a:r>
            <a:endParaRPr b="0" lang="es-ES" sz="5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1"/>
          <p:cNvSpPr/>
          <p:nvPr/>
        </p:nvSpPr>
        <p:spPr>
          <a:xfrm>
            <a:off x="793800" y="2050560"/>
            <a:ext cx="13040280" cy="29520"/>
          </a:xfrm>
          <a:prstGeom prst="rect">
            <a:avLst/>
          </a:prstGeom>
          <a:solidFill>
            <a:srgbClr val="67534f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760" bIns="-1476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2" name="Image 0" descr="preencoded.png"/>
          <p:cNvPicPr/>
          <p:nvPr/>
        </p:nvPicPr>
        <p:blipFill>
          <a:blip r:embed="rId1"/>
          <a:stretch/>
        </p:blipFill>
        <p:spPr>
          <a:xfrm>
            <a:off x="793800" y="2427480"/>
            <a:ext cx="5119200" cy="5434920"/>
          </a:xfrm>
          <a:prstGeom prst="rect">
            <a:avLst/>
          </a:prstGeom>
          <a:ln w="0">
            <a:noFill/>
          </a:ln>
        </p:spPr>
      </p:pic>
      <p:sp>
        <p:nvSpPr>
          <p:cNvPr id="133" name="Text 2"/>
          <p:cNvSpPr/>
          <p:nvPr/>
        </p:nvSpPr>
        <p:spPr>
          <a:xfrm>
            <a:off x="7678800" y="2408760"/>
            <a:ext cx="3580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0" lang="en-US" sz="2050" spc="-1" strike="noStrike">
                <a:solidFill>
                  <a:srgbClr val="000000"/>
                </a:solidFill>
                <a:latin typeface="Marcellus"/>
                <a:ea typeface="Marcellus"/>
              </a:rPr>
              <a:t>🎬</a:t>
            </a:r>
            <a:r>
              <a:rPr b="1" lang="en-US" sz="2050" spc="-1" strike="noStrike">
                <a:solidFill>
                  <a:srgbClr val="532418"/>
                </a:solidFill>
                <a:latin typeface="Marcellus"/>
                <a:ea typeface="Marcellus"/>
              </a:rPr>
              <a:t> </a:t>
            </a:r>
            <a:r>
              <a:rPr b="1" lang="en-US" sz="2050" spc="-1" strike="noStrike">
                <a:solidFill>
                  <a:srgbClr val="532418"/>
                </a:solidFill>
                <a:latin typeface="Marcellus"/>
                <a:ea typeface="Marcellus"/>
              </a:rPr>
              <a:t>GÉNEROS MÁS COMUNES:</a:t>
            </a:r>
            <a:endParaRPr b="0" lang="es-ES" sz="2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7678800" y="2836080"/>
            <a:ext cx="519480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0" lang="en-US" sz="2050" spc="-1" strike="noStrike">
                <a:solidFill>
                  <a:srgbClr val="532418"/>
                </a:solidFill>
                <a:latin typeface="Marcellus"/>
                <a:ea typeface="Marcellus"/>
              </a:rPr>
              <a:t>Acción (32%) | Aventura (28%) | Sci-Fi (18%)</a:t>
            </a:r>
            <a:endParaRPr b="0" lang="es-ES" sz="2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7678800" y="3255840"/>
            <a:ext cx="315252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0" lang="en-US" sz="2050" spc="-1" strike="noStrike">
                <a:solidFill>
                  <a:srgbClr val="532418"/>
                </a:solidFill>
                <a:latin typeface="Marcellus"/>
                <a:ea typeface="Marcellus"/>
              </a:rPr>
              <a:t>Drama (12%) | Otros (10%)</a:t>
            </a:r>
            <a:endParaRPr b="0" lang="es-ES" sz="2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7678800" y="3675600"/>
            <a:ext cx="3135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0" lang="en-US" sz="2050" spc="-1" strike="noStrike">
                <a:solidFill>
                  <a:srgbClr val="000000"/>
                </a:solidFill>
                <a:latin typeface="Marcellus"/>
                <a:ea typeface="Marcellus"/>
              </a:rPr>
              <a:t>🎞️</a:t>
            </a:r>
            <a:r>
              <a:rPr b="1" lang="en-US" sz="2050" spc="-1" strike="noStrike">
                <a:solidFill>
                  <a:srgbClr val="532418"/>
                </a:solidFill>
                <a:latin typeface="Marcellus"/>
                <a:ea typeface="Marcellus"/>
              </a:rPr>
              <a:t> </a:t>
            </a:r>
            <a:r>
              <a:rPr b="1" lang="en-US" sz="2050" spc="-1" strike="noStrike">
                <a:solidFill>
                  <a:srgbClr val="532418"/>
                </a:solidFill>
                <a:latin typeface="Marcellus"/>
                <a:ea typeface="Marcellus"/>
              </a:rPr>
              <a:t>CLASIFICACIÓN MPAA:</a:t>
            </a:r>
            <a:endParaRPr b="0" lang="es-ES" sz="2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7678800" y="4103280"/>
            <a:ext cx="379008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0" lang="en-US" sz="2050" spc="-1" strike="noStrike">
                <a:solidFill>
                  <a:srgbClr val="532418"/>
                </a:solidFill>
                <a:latin typeface="Marcellus"/>
                <a:ea typeface="Marcellus"/>
              </a:rPr>
              <a:t>PG-13: 45% (público más amplio)</a:t>
            </a:r>
            <a:endParaRPr b="0" lang="es-ES" sz="2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7678800" y="4523040"/>
            <a:ext cx="272952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0" lang="en-US" sz="2050" spc="-1" strike="noStrike">
                <a:solidFill>
                  <a:srgbClr val="532418"/>
                </a:solidFill>
                <a:latin typeface="Marcellus"/>
                <a:ea typeface="Marcellus"/>
              </a:rPr>
              <a:t>R: 38% (público adulto)</a:t>
            </a:r>
            <a:endParaRPr b="0" lang="es-ES" sz="2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7678800" y="4942440"/>
            <a:ext cx="260604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0" lang="en-US" sz="2050" spc="-1" strike="noStrike">
                <a:solidFill>
                  <a:srgbClr val="532418"/>
                </a:solidFill>
                <a:latin typeface="Marcellus"/>
                <a:ea typeface="Marcellus"/>
              </a:rPr>
              <a:t>PG: 12% | G: 5%</a:t>
            </a:r>
            <a:endParaRPr b="0" lang="es-ES" sz="2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7678800" y="5362200"/>
            <a:ext cx="2653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0" lang="en-US" sz="2050" spc="-1" strike="noStrike">
                <a:solidFill>
                  <a:srgbClr val="000000"/>
                </a:solidFill>
                <a:latin typeface="Marcellus"/>
                <a:ea typeface="Marcellus"/>
              </a:rPr>
              <a:t>💡</a:t>
            </a:r>
            <a:r>
              <a:rPr b="1" lang="en-US" sz="2050" spc="-1" strike="noStrike">
                <a:solidFill>
                  <a:srgbClr val="532418"/>
                </a:solidFill>
                <a:latin typeface="Marcellus"/>
                <a:ea typeface="Marcellus"/>
              </a:rPr>
              <a:t> </a:t>
            </a:r>
            <a:r>
              <a:rPr b="1" lang="en-US" sz="2050" spc="-1" strike="noStrike">
                <a:solidFill>
                  <a:srgbClr val="532418"/>
                </a:solidFill>
                <a:latin typeface="Marcellus"/>
                <a:ea typeface="Marcellus"/>
              </a:rPr>
              <a:t>HALLAZGO CLAVE:</a:t>
            </a:r>
            <a:endParaRPr b="0" lang="es-ES" sz="2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7678800" y="5789880"/>
            <a:ext cx="454032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0" lang="en-US" sz="2050" spc="-1" strike="noStrike">
                <a:solidFill>
                  <a:srgbClr val="532418"/>
                </a:solidFill>
                <a:latin typeface="Marcellus"/>
                <a:ea typeface="Marcellus"/>
              </a:rPr>
              <a:t>Películas PG-13 tienden a recaudar más</a:t>
            </a:r>
            <a:endParaRPr b="0" lang="es-ES" sz="2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11"/>
          <p:cNvSpPr/>
          <p:nvPr/>
        </p:nvSpPr>
        <p:spPr>
          <a:xfrm>
            <a:off x="7678800" y="6209640"/>
            <a:ext cx="413352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0" lang="en-US" sz="2050" spc="-1" strike="noStrike">
                <a:solidFill>
                  <a:srgbClr val="532418"/>
                </a:solidFill>
                <a:latin typeface="Marcellus"/>
                <a:ea typeface="Marcellus"/>
              </a:rPr>
              <a:t>por acceso a audiencia más grande</a:t>
            </a:r>
            <a:endParaRPr b="0" lang="es-ES" sz="2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7678800" y="6629040"/>
            <a:ext cx="2606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0" lang="en-US" sz="2050" spc="-1" strike="noStrike">
                <a:solidFill>
                  <a:srgbClr val="000000"/>
                </a:solidFill>
                <a:latin typeface="Marcellus"/>
                <a:ea typeface="Marcellus"/>
              </a:rPr>
              <a:t>⚠️</a:t>
            </a:r>
            <a:r>
              <a:rPr b="1" lang="en-US" sz="2050" spc="-1" strike="noStrike">
                <a:solidFill>
                  <a:srgbClr val="532418"/>
                </a:solidFill>
                <a:latin typeface="Marcellus"/>
                <a:ea typeface="Marcellus"/>
              </a:rPr>
              <a:t> </a:t>
            </a:r>
            <a:r>
              <a:rPr b="1" lang="en-US" sz="2050" spc="-1" strike="noStrike">
                <a:solidFill>
                  <a:srgbClr val="532418"/>
                </a:solidFill>
                <a:latin typeface="Marcellus"/>
                <a:ea typeface="Marcellus"/>
              </a:rPr>
              <a:t>IMPORTANTE:</a:t>
            </a:r>
            <a:endParaRPr b="0" lang="es-ES" sz="2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7678800" y="7056720"/>
            <a:ext cx="557352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0" lang="en-US" sz="2050" spc="-1" strike="noStrike">
                <a:solidFill>
                  <a:srgbClr val="532418"/>
                </a:solidFill>
                <a:latin typeface="Marcellus"/>
                <a:ea typeface="Marcellus"/>
              </a:rPr>
              <a:t>NO hay correlación perfecta presupuesto-éxito</a:t>
            </a:r>
            <a:endParaRPr b="0" lang="es-ES" sz="2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791640" y="162360"/>
            <a:ext cx="9358200" cy="80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950"/>
              </a:lnSpc>
              <a:tabLst>
                <a:tab algn="l" pos="0"/>
              </a:tabLst>
            </a:pPr>
            <a:r>
              <a:rPr b="0" lang="en-US" sz="4600" spc="-1" strike="noStrike">
                <a:solidFill>
                  <a:srgbClr val="532418"/>
                </a:solidFill>
                <a:latin typeface="Marcellus"/>
                <a:ea typeface="Marcellus"/>
              </a:rPr>
              <a:t>Pregunta 1: Regresión Lineal Múltiple</a:t>
            </a:r>
            <a:endParaRPr b="0" lang="es-E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791640" y="1848240"/>
            <a:ext cx="1360692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5045400" y="3683880"/>
            <a:ext cx="38091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51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00994c"/>
                </a:solidFill>
                <a:latin typeface="Marcellus"/>
                <a:ea typeface="Marcellus"/>
              </a:rPr>
              <a:t>¿ES CONFIABLE EL MODELO?</a:t>
            </a:r>
            <a:endParaRPr b="0" lang="es-E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3"/>
          <p:cNvSpPr/>
          <p:nvPr/>
        </p:nvSpPr>
        <p:spPr>
          <a:xfrm>
            <a:off x="180000" y="4140000"/>
            <a:ext cx="1304460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67534f"/>
                </a:solidFill>
                <a:latin typeface="Montserrat"/>
                <a:ea typeface="Montserrat"/>
              </a:rPr>
              <a:t>INSESGADEZ:</a:t>
            </a:r>
            <a:r>
              <a:rPr b="0" lang="en-US" sz="2000" spc="-1" strike="noStrike">
                <a:solidFill>
                  <a:srgbClr val="67534f"/>
                </a:solidFill>
                <a:latin typeface="Montserrat"/>
                <a:ea typeface="Montserrat"/>
              </a:rPr>
              <a:t> Media de residuos ≈ 0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4"/>
          <p:cNvSpPr/>
          <p:nvPr/>
        </p:nvSpPr>
        <p:spPr>
          <a:xfrm>
            <a:off x="9252000" y="7848720"/>
            <a:ext cx="1331784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67534f"/>
                </a:solidFill>
                <a:latin typeface="Montserrat"/>
                <a:ea typeface="Montserrat"/>
              </a:rPr>
              <a:t>NORMALIDAD:</a:t>
            </a:r>
            <a:r>
              <a:rPr b="0" lang="en-US" sz="2000" spc="-1" strike="noStrike">
                <a:solidFill>
                  <a:srgbClr val="67534f"/>
                </a:solidFill>
                <a:latin typeface="Montserrat"/>
                <a:ea typeface="Montserrat"/>
              </a:rPr>
              <a:t> Test Shapiro-Wilk confirma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6"/>
          <p:cNvSpPr/>
          <p:nvPr/>
        </p:nvSpPr>
        <p:spPr>
          <a:xfrm>
            <a:off x="791640" y="4746240"/>
            <a:ext cx="1304460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7"/>
          <p:cNvSpPr/>
          <p:nvPr/>
        </p:nvSpPr>
        <p:spPr>
          <a:xfrm>
            <a:off x="9057960" y="4140000"/>
            <a:ext cx="1304460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67534f"/>
                </a:solidFill>
                <a:latin typeface="Montserrat"/>
                <a:ea typeface="Montserrat"/>
              </a:rPr>
              <a:t>NO MULTICOLINEALIDAD:</a:t>
            </a:r>
            <a:r>
              <a:rPr b="0" lang="en-US" sz="2000" spc="-1" strike="noStrike">
                <a:solidFill>
                  <a:srgbClr val="67534f"/>
                </a:solidFill>
                <a:latin typeface="Montserrat"/>
                <a:ea typeface="Montserrat"/>
              </a:rPr>
              <a:t> Cond.Nº=4.56 &lt;30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8"/>
          <p:cNvSpPr/>
          <p:nvPr/>
        </p:nvSpPr>
        <p:spPr>
          <a:xfrm>
            <a:off x="180000" y="4529160"/>
            <a:ext cx="1304460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67534f"/>
                </a:solidFill>
                <a:latin typeface="Montserrat"/>
                <a:ea typeface="Montserrat"/>
              </a:rPr>
              <a:t>INDEPENDENCIA:</a:t>
            </a:r>
            <a:r>
              <a:rPr b="0" lang="en-US" sz="2000" spc="-1" strike="noStrike">
                <a:solidFill>
                  <a:srgbClr val="67534f"/>
                </a:solidFill>
                <a:latin typeface="Montserrat"/>
                <a:ea typeface="Montserrat"/>
              </a:rPr>
              <a:t> Durbin-Watson ≈ 1.44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3" name="Image 4" descr="preencoded.png"/>
          <p:cNvPicPr/>
          <p:nvPr/>
        </p:nvPicPr>
        <p:blipFill>
          <a:blip r:embed="rId1"/>
          <a:stretch/>
        </p:blipFill>
        <p:spPr>
          <a:xfrm>
            <a:off x="9429480" y="4680000"/>
            <a:ext cx="4861080" cy="3053160"/>
          </a:xfrm>
          <a:prstGeom prst="rect">
            <a:avLst/>
          </a:prstGeom>
          <a:ln w="0">
            <a:noFill/>
          </a:ln>
        </p:spPr>
      </p:pic>
      <p:pic>
        <p:nvPicPr>
          <p:cNvPr id="154" name="Image 3" descr="preencoded.png"/>
          <p:cNvPicPr/>
          <p:nvPr/>
        </p:nvPicPr>
        <p:blipFill>
          <a:blip r:embed="rId2"/>
          <a:stretch/>
        </p:blipFill>
        <p:spPr>
          <a:xfrm>
            <a:off x="180720" y="5220000"/>
            <a:ext cx="4857840" cy="2261880"/>
          </a:xfrm>
          <a:prstGeom prst="rect">
            <a:avLst/>
          </a:prstGeom>
          <a:ln w="0">
            <a:noFill/>
          </a:ln>
        </p:spPr>
      </p:pic>
      <p:sp>
        <p:nvSpPr>
          <p:cNvPr id="155" name=""/>
          <p:cNvSpPr/>
          <p:nvPr/>
        </p:nvSpPr>
        <p:spPr>
          <a:xfrm>
            <a:off x="360000" y="7560000"/>
            <a:ext cx="4752360" cy="46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c80000"/>
                </a:solidFill>
                <a:latin typeface="Montserrat"/>
                <a:ea typeface="Montserrat"/>
              </a:rPr>
              <a:t>HETEROCEDASTICIDAD:</a:t>
            </a:r>
            <a:r>
              <a:rPr b="0" lang="en-US" sz="2000" spc="-1" strike="noStrike">
                <a:solidFill>
                  <a:srgbClr val="67534f"/>
                </a:solidFill>
                <a:latin typeface="Montserrat"/>
                <a:ea typeface="Montserrat"/>
              </a:rPr>
              <a:t> Detectada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360000" y="7920000"/>
            <a:ext cx="4595040" cy="46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67534f"/>
                </a:solidFill>
                <a:latin typeface="Montserrat"/>
                <a:ea typeface="Montserrat"/>
              </a:rPr>
              <a:t>(corregida con errores robustos HC3)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3960000" y="963720"/>
            <a:ext cx="58928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900" spc="-1" strike="noStrike">
                <a:solidFill>
                  <a:srgbClr val="532418"/>
                </a:solidFill>
                <a:latin typeface="Marcellus"/>
                <a:ea typeface="Marcellus"/>
              </a:rPr>
              <a:t>¿QUÉ FACTORES IMPULSAN LA RECAUDACIÓN?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982800" y="1439640"/>
            <a:ext cx="12335760" cy="8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532418"/>
                </a:solidFill>
                <a:latin typeface="Marcellus"/>
                <a:ea typeface="Marcellus"/>
              </a:rPr>
              <a:t>Se estimó un modelo de regresión lineal múltiple para analizar qué factores  influyen en la recaudación mundial de las películas . Se incluyeron variables económicas, de calidad y categóricas.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1080000" y="2159640"/>
            <a:ext cx="448164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000" spc="-1" strike="noStrike">
                <a:solidFill>
                  <a:srgbClr val="ffffff"/>
                </a:solidFill>
                <a:latin typeface="Arial"/>
              </a:rPr>
              <a:t>Las variables categóricas fueron transformadas mediante variables dummy.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000" spc="-1" strike="noStrike">
                <a:solidFill>
                  <a:srgbClr val="ffffff"/>
                </a:solidFill>
                <a:latin typeface="Arial"/>
              </a:rPr>
              <a:t>Las variables continuas fueron estandarizadas para facilitar la interpretación.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1080000" y="2159640"/>
            <a:ext cx="4481640" cy="8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000" spc="-1" strike="noStrike">
                <a:solidFill>
                  <a:srgbClr val="ffffff"/>
                </a:solidFill>
                <a:latin typeface="Arial"/>
              </a:rPr>
              <a:t>Las variables categóricas fueron transformadas mediante variables dummy.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000" spc="-1" strike="noStrike">
                <a:solidFill>
                  <a:srgbClr val="ffffff"/>
                </a:solidFill>
                <a:latin typeface="Arial"/>
              </a:rPr>
              <a:t>Las variables continuas fueron estandarizadas para facilitar la interpretación.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982800" y="2159640"/>
            <a:ext cx="1233576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532418"/>
                </a:solidFill>
                <a:latin typeface="Marcellus"/>
                <a:ea typeface="Marcellus"/>
              </a:rPr>
              <a:t>Las variables categóricas fueron transformadas mediante variables dummy 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970560" y="2519640"/>
            <a:ext cx="1233576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532418"/>
                </a:solidFill>
                <a:latin typeface="Marcellus"/>
                <a:ea typeface="Marcellus"/>
              </a:rPr>
              <a:t>Las variables continuas fueron estandarizadas para facilitar la interpretación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982800" y="2880000"/>
            <a:ext cx="12335760" cy="7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532418"/>
                </a:solidFill>
                <a:latin typeface="Marcellus"/>
                <a:ea typeface="Marcellus"/>
              </a:rPr>
              <a:t>Varias variables categóricas (algunos géneros y clasificaciones MPAA) no resultaron estadísticamente significativas. Dichas variables fueron eliminadas progresivamente del modelo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7560000" y="7017120"/>
            <a:ext cx="73299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000" spc="-1" strike="noStrike">
                <a:solidFill>
                  <a:srgbClr val="ffffff"/>
                </a:solidFill>
                <a:latin typeface="Arial"/>
              </a:rPr>
              <a:t>Se estimó un modelo de regresión lineal múltiple para analizar qué factores influyen en la recaudación mundial de las películas.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793800" y="-25920"/>
            <a:ext cx="11199600" cy="92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6900"/>
              </a:lnSpc>
              <a:tabLst>
                <a:tab algn="l" pos="0"/>
              </a:tabLst>
            </a:pPr>
            <a:r>
              <a:rPr b="0" lang="en-US" sz="5300" spc="-1" strike="noStrike">
                <a:solidFill>
                  <a:srgbClr val="532418"/>
                </a:solidFill>
                <a:latin typeface="Marcellus"/>
                <a:ea typeface="Marcellus"/>
              </a:rPr>
              <a:t>Pregunta 1: Resultados</a:t>
            </a:r>
            <a:endParaRPr b="0" lang="es-ES" sz="5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5400000" y="1104840"/>
            <a:ext cx="8092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2"/>
          <p:cNvSpPr/>
          <p:nvPr/>
        </p:nvSpPr>
        <p:spPr>
          <a:xfrm>
            <a:off x="1332000" y="1188000"/>
            <a:ext cx="5634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532418"/>
                </a:solidFill>
                <a:latin typeface="Marcellus"/>
                <a:ea typeface="Marcellus"/>
              </a:rPr>
              <a:t>RENDIMIENTO DEL MODELO: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1331640" y="1465200"/>
            <a:ext cx="7018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532418"/>
                </a:solidFill>
                <a:latin typeface="Marcellus"/>
                <a:ea typeface="Marcellus"/>
              </a:rPr>
              <a:t>R² = 0.697 (explica 69.7% de variabilidad)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1357200" y="1753200"/>
            <a:ext cx="4509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532418"/>
                </a:solidFill>
                <a:latin typeface="Marcellus"/>
                <a:ea typeface="Marcellus"/>
              </a:rPr>
              <a:t>F-statistic &lt; 0.001 (altamente significativo)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8058240" y="1141200"/>
            <a:ext cx="6340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532418"/>
                </a:solidFill>
                <a:latin typeface="Marcellus"/>
                <a:ea typeface="Marcellus"/>
              </a:rPr>
              <a:t>FACTORES MÁS IMPORTANTES: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6"/>
          <p:cNvSpPr/>
          <p:nvPr/>
        </p:nvSpPr>
        <p:spPr>
          <a:xfrm>
            <a:off x="8064000" y="1404000"/>
            <a:ext cx="6910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532418"/>
                </a:solidFill>
                <a:latin typeface="Marcellus"/>
                <a:ea typeface="Marcellus"/>
              </a:rPr>
              <a:t>PRESUPUESTO: +0.63% por 1% aumento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7"/>
          <p:cNvSpPr/>
          <p:nvPr/>
        </p:nvSpPr>
        <p:spPr>
          <a:xfrm>
            <a:off x="8064000" y="1670400"/>
            <a:ext cx="7003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532418"/>
                </a:solidFill>
                <a:latin typeface="Marcellus"/>
                <a:ea typeface="Marcellus"/>
              </a:rPr>
              <a:t>RATING IMDb: +13% por punto adicional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8"/>
          <p:cNvSpPr/>
          <p:nvPr/>
        </p:nvSpPr>
        <p:spPr>
          <a:xfrm>
            <a:off x="8064000" y="1911600"/>
            <a:ext cx="65455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532418"/>
                </a:solidFill>
                <a:latin typeface="Marcellus"/>
                <a:ea typeface="Marcellus"/>
              </a:rPr>
              <a:t>GÉNERO ANIMACIÓN: +31% vs otros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9"/>
          <p:cNvSpPr/>
          <p:nvPr/>
        </p:nvSpPr>
        <p:spPr>
          <a:xfrm>
            <a:off x="8064000" y="2174400"/>
            <a:ext cx="4082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532418"/>
                </a:solidFill>
                <a:latin typeface="Marcellus"/>
                <a:ea typeface="Marcellus"/>
              </a:rPr>
              <a:t>CLASIFICACIÓN PG-13: +32% vs otros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10"/>
          <p:cNvSpPr/>
          <p:nvPr/>
        </p:nvSpPr>
        <p:spPr>
          <a:xfrm>
            <a:off x="5655600" y="3132000"/>
            <a:ext cx="24429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532418"/>
                </a:solidFill>
                <a:latin typeface="Marcellus"/>
                <a:ea typeface="Marcellus"/>
              </a:rPr>
              <a:t>CONCLUSIONES: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1080000" y="3384000"/>
            <a:ext cx="12335760" cy="10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532418"/>
                </a:solidFill>
                <a:latin typeface="Marcellus"/>
                <a:ea typeface="Marcellus"/>
              </a:rPr>
              <a:t>El presupuesto de producción resulta ser el factor más determinante. Los resultados del modelo de regresión muestran que un incremento en el presupuesto se asocia a un aumento significativo en la recaudación mundial, lo que sugiere que las películas con mayores inversiones tienden a contar con mejor promoción y mayor alcance internacional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1080000" y="4637160"/>
            <a:ext cx="12335760" cy="8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532418"/>
                </a:solidFill>
                <a:latin typeface="Marcellus"/>
                <a:ea typeface="Marcellus"/>
              </a:rPr>
              <a:t>La clasificación IDMb tiene un impacto positivo y estadísticamente significativo. Las películas mejor valoradas por la audiencia tienden a recaudar más, lo que refleja la importancia de la percepción de calidad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1080000" y="5364000"/>
            <a:ext cx="12335760" cy="8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532418"/>
                </a:solidFill>
                <a:latin typeface="Marcellus"/>
                <a:ea typeface="Marcellus"/>
              </a:rPr>
              <a:t>La clasificación por edades, particularmente la categoría PG-13, influye de manera significativa en la recaudación. Este resultado indica que las películas aptas para un público amplio, pero con un cierto contenido maduro logran un mayor alcance 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1080000" y="6372000"/>
            <a:ext cx="12335760" cy="10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532418"/>
                </a:solidFill>
                <a:latin typeface="Marcellus"/>
                <a:ea typeface="Marcellus"/>
              </a:rPr>
              <a:t>El género cinematográfico también desempeña un papel relevante. En particular las películas de animación presentan una recaudación promedio superior respecto a otros géneros, lo cual puede explicarse por su atractivo para públicos de distintas edades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1080000" y="7416000"/>
            <a:ext cx="12335760" cy="10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532418"/>
                </a:solidFill>
                <a:latin typeface="Marcellus"/>
                <a:ea typeface="Marcellus"/>
              </a:rPr>
              <a:t>Estos resultados muestran que el éxito comercial de una película no depende de un solo factor, sino de la interacción entre inversión económica, calidad percibida, accesibilidad al público y características propias del contenido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793800" y="899640"/>
            <a:ext cx="902916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6401"/>
              </a:lnSpc>
              <a:tabLst>
                <a:tab algn="l" pos="0"/>
              </a:tabLst>
            </a:pPr>
            <a:r>
              <a:rPr b="0" lang="en-US" sz="4950" spc="-1" strike="noStrike">
                <a:solidFill>
                  <a:srgbClr val="532418"/>
                </a:solidFill>
                <a:latin typeface="Marcellus"/>
                <a:ea typeface="Marcellus"/>
              </a:rPr>
              <a:t>Pregunta 2: K-Means Clustering</a:t>
            </a:r>
            <a:endParaRPr b="0" lang="es-ES" sz="4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1"/>
          <p:cNvSpPr/>
          <p:nvPr/>
        </p:nvSpPr>
        <p:spPr>
          <a:xfrm>
            <a:off x="793800" y="2084040"/>
            <a:ext cx="13040280" cy="26280"/>
          </a:xfrm>
          <a:prstGeom prst="rect">
            <a:avLst/>
          </a:prstGeom>
          <a:solidFill>
            <a:srgbClr val="67534f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2"/>
          <p:cNvSpPr/>
          <p:nvPr/>
        </p:nvSpPr>
        <p:spPr>
          <a:xfrm>
            <a:off x="793800" y="2244960"/>
            <a:ext cx="130402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67534f"/>
                </a:solidFill>
                <a:latin typeface="Montserrat"/>
                <a:ea typeface="Montserrat"/>
              </a:rPr>
              <a:t>¿QUÉ TIPOS DE BLOCKBUSTERS EXISTEN?</a:t>
            </a:r>
            <a:endParaRPr b="0" lang="es-E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3"/>
          <p:cNvSpPr/>
          <p:nvPr/>
        </p:nvSpPr>
        <p:spPr>
          <a:xfrm>
            <a:off x="793800" y="2562840"/>
            <a:ext cx="130402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67534f"/>
                </a:solidFill>
                <a:latin typeface="Montserrat"/>
                <a:ea typeface="Montserrat"/>
              </a:rPr>
              <a:t>5 CLUSTERS IDENTIFICADOS:</a:t>
            </a:r>
            <a:endParaRPr b="0" lang="es-E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4"/>
          <p:cNvSpPr/>
          <p:nvPr/>
        </p:nvSpPr>
        <p:spPr>
          <a:xfrm>
            <a:off x="793800" y="2924280"/>
            <a:ext cx="679716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532418"/>
                </a:solidFill>
                <a:latin typeface="Marcellus"/>
                <a:ea typeface="Marcellus"/>
              </a:rPr>
              <a:t>C0: Blockbusters Probados (15%)</a:t>
            </a:r>
            <a:r>
              <a:rPr b="0" lang="en-US" sz="1750" spc="-1" strike="noStrike">
                <a:solidFill>
                  <a:srgbClr val="532418"/>
                </a:solidFill>
                <a:latin typeface="Marcellus"/>
                <a:ea typeface="Marcellus"/>
              </a:rPr>
              <a:t> → Presupuesto alto + Rating alto</a:t>
            </a:r>
            <a:endParaRPr b="0" lang="es-E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5"/>
          <p:cNvSpPr/>
          <p:nvPr/>
        </p:nvSpPr>
        <p:spPr>
          <a:xfrm>
            <a:off x="793800" y="3284640"/>
            <a:ext cx="736020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532418"/>
                </a:solidFill>
                <a:latin typeface="Marcellus"/>
                <a:ea typeface="Marcellus"/>
              </a:rPr>
              <a:t>C1: Apuestas Riesgosas (8%)</a:t>
            </a:r>
            <a:r>
              <a:rPr b="0" lang="en-US" sz="1750" spc="-1" strike="noStrike">
                <a:solidFill>
                  <a:srgbClr val="532418"/>
                </a:solidFill>
                <a:latin typeface="Marcellus"/>
                <a:ea typeface="Marcellus"/>
              </a:rPr>
              <a:t> → Presupuesto muy alto + Rating mediocre</a:t>
            </a:r>
            <a:endParaRPr b="0" lang="es-E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6"/>
          <p:cNvSpPr/>
          <p:nvPr/>
        </p:nvSpPr>
        <p:spPr>
          <a:xfrm>
            <a:off x="793800" y="3645000"/>
            <a:ext cx="653508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532418"/>
                </a:solidFill>
                <a:latin typeface="Marcellus"/>
                <a:ea typeface="Marcellus"/>
              </a:rPr>
              <a:t>C2: Joyas Ocultas (22%)</a:t>
            </a:r>
            <a:r>
              <a:rPr b="0" lang="en-US" sz="1750" spc="-1" strike="noStrike">
                <a:solidFill>
                  <a:srgbClr val="532418"/>
                </a:solidFill>
                <a:latin typeface="Marcellus"/>
                <a:ea typeface="Marcellus"/>
              </a:rPr>
              <a:t> → Presupuesto moderado + Rating alto</a:t>
            </a:r>
            <a:endParaRPr b="0" lang="es-E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7"/>
          <p:cNvSpPr/>
          <p:nvPr/>
        </p:nvSpPr>
        <p:spPr>
          <a:xfrm>
            <a:off x="793800" y="4005720"/>
            <a:ext cx="819108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532418"/>
                </a:solidFill>
                <a:latin typeface="Marcellus"/>
                <a:ea typeface="Marcellus"/>
              </a:rPr>
              <a:t>C3: Entretenimiento Masivo (35%)</a:t>
            </a:r>
            <a:r>
              <a:rPr b="0" lang="en-US" sz="1750" spc="-1" strike="noStrike">
                <a:solidFill>
                  <a:srgbClr val="532418"/>
                </a:solidFill>
                <a:latin typeface="Marcellus"/>
                <a:ea typeface="Marcellus"/>
              </a:rPr>
              <a:t> → Presupuesto promedio + Rating promedio</a:t>
            </a:r>
            <a:endParaRPr b="0" lang="es-E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8"/>
          <p:cNvSpPr/>
          <p:nvPr/>
        </p:nvSpPr>
        <p:spPr>
          <a:xfrm>
            <a:off x="793800" y="4366080"/>
            <a:ext cx="771552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532418"/>
                </a:solidFill>
                <a:latin typeface="Marcellus"/>
                <a:ea typeface="Marcellus"/>
              </a:rPr>
              <a:t>C4: Experimentos Económicos (20%)</a:t>
            </a:r>
            <a:r>
              <a:rPr b="0" lang="en-US" sz="1750" spc="-1" strike="noStrike">
                <a:solidFill>
                  <a:srgbClr val="532418"/>
                </a:solidFill>
                <a:latin typeface="Marcellus"/>
                <a:ea typeface="Marcellus"/>
              </a:rPr>
              <a:t> → Presupuesto bajo + Rating variable</a:t>
            </a:r>
            <a:endParaRPr b="0" lang="es-E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9"/>
          <p:cNvSpPr/>
          <p:nvPr/>
        </p:nvSpPr>
        <p:spPr>
          <a:xfrm>
            <a:off x="793800" y="4855680"/>
            <a:ext cx="130402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49"/>
              </a:lnSpc>
              <a:tabLst>
                <a:tab algn="l" pos="0"/>
              </a:tabLst>
            </a:pP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1" name="Image 0" descr="preencoded.png"/>
          <p:cNvPicPr/>
          <p:nvPr/>
        </p:nvPicPr>
        <p:blipFill>
          <a:blip r:embed="rId1"/>
          <a:stretch/>
        </p:blipFill>
        <p:spPr>
          <a:xfrm>
            <a:off x="2752560" y="5173560"/>
            <a:ext cx="9122760" cy="262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 0"/>
          <p:cNvSpPr/>
          <p:nvPr/>
        </p:nvSpPr>
        <p:spPr>
          <a:xfrm>
            <a:off x="793800" y="1104120"/>
            <a:ext cx="1072260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9201"/>
              </a:lnSpc>
              <a:tabLst>
                <a:tab algn="l" pos="0"/>
              </a:tabLst>
            </a:pPr>
            <a:r>
              <a:rPr b="0" lang="en-US" sz="7050" spc="-1" strike="noStrike">
                <a:solidFill>
                  <a:srgbClr val="532418"/>
                </a:solidFill>
                <a:latin typeface="Marcellus"/>
                <a:ea typeface="Marcellus"/>
              </a:rPr>
              <a:t>Pregunta 2: Interpretación</a:t>
            </a:r>
            <a:endParaRPr b="0" lang="es-ES" sz="7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Shape 1"/>
          <p:cNvSpPr/>
          <p:nvPr/>
        </p:nvSpPr>
        <p:spPr>
          <a:xfrm>
            <a:off x="793800" y="2939760"/>
            <a:ext cx="13040280" cy="35640"/>
          </a:xfrm>
          <a:prstGeom prst="rect">
            <a:avLst/>
          </a:prstGeom>
          <a:solidFill>
            <a:srgbClr val="67534f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000" bIns="-9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2"/>
          <p:cNvSpPr/>
          <p:nvPr/>
        </p:nvSpPr>
        <p:spPr>
          <a:xfrm>
            <a:off x="793800" y="3337200"/>
            <a:ext cx="591336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00"/>
              </a:lnSpc>
              <a:tabLst>
                <a:tab algn="l" pos="0"/>
              </a:tabLst>
            </a:pPr>
            <a:r>
              <a:rPr b="1" lang="en-US" sz="2550" spc="-1" strike="noStrike">
                <a:solidFill>
                  <a:srgbClr val="00994c"/>
                </a:solidFill>
                <a:latin typeface="Marcellus"/>
                <a:ea typeface="Marcellus"/>
              </a:rPr>
              <a:t>ESTRATEGIAS COMERCIALES DISTINTAS:</a:t>
            </a:r>
            <a:endParaRPr b="0" lang="es-ES" sz="2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3"/>
          <p:cNvSpPr/>
          <p:nvPr/>
        </p:nvSpPr>
        <p:spPr>
          <a:xfrm>
            <a:off x="793800" y="3881160"/>
            <a:ext cx="507456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00"/>
              </a:lnSpc>
              <a:tabLst>
                <a:tab algn="l" pos="0"/>
              </a:tabLst>
            </a:pPr>
            <a:r>
              <a:rPr b="1" lang="en-US" sz="2550" spc="-1" strike="noStrike">
                <a:solidFill>
                  <a:srgbClr val="532418"/>
                </a:solidFill>
                <a:latin typeface="Marcellus"/>
                <a:ea typeface="Marcellus"/>
              </a:rPr>
              <a:t>1</a:t>
            </a:r>
            <a:r>
              <a:rPr b="0" lang="en-US" sz="2550" spc="-1" strike="noStrike">
                <a:solidFill>
                  <a:srgbClr val="532418"/>
                </a:solidFill>
                <a:latin typeface="Marcellus"/>
                <a:ea typeface="Marcellus"/>
              </a:rPr>
              <a:t> NO existe fórmula única de éxito</a:t>
            </a:r>
            <a:endParaRPr b="0" lang="es-ES" sz="2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4"/>
          <p:cNvSpPr/>
          <p:nvPr/>
        </p:nvSpPr>
        <p:spPr>
          <a:xfrm>
            <a:off x="793800" y="4425120"/>
            <a:ext cx="1224324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00"/>
              </a:lnSpc>
              <a:tabLst>
                <a:tab algn="l" pos="0"/>
              </a:tabLst>
            </a:pPr>
            <a:r>
              <a:rPr b="1" lang="en-US" sz="2550" spc="-1" strike="noStrike">
                <a:solidFill>
                  <a:srgbClr val="532418"/>
                </a:solidFill>
                <a:latin typeface="Marcellus"/>
                <a:ea typeface="Marcellus"/>
              </a:rPr>
              <a:t>2</a:t>
            </a:r>
            <a:r>
              <a:rPr b="0" lang="en-US" sz="2550" spc="-1" strike="noStrike">
                <a:solidFill>
                  <a:srgbClr val="532418"/>
                </a:solidFill>
                <a:latin typeface="Marcellus"/>
                <a:ea typeface="Marcellus"/>
              </a:rPr>
              <a:t> Presupuesto alto ≠ Éxito garantizado Cluster 1 gasta mucho pero rating mediocre</a:t>
            </a:r>
            <a:endParaRPr b="0" lang="es-ES" sz="2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5"/>
          <p:cNvSpPr/>
          <p:nvPr/>
        </p:nvSpPr>
        <p:spPr>
          <a:xfrm>
            <a:off x="793800" y="4968720"/>
            <a:ext cx="1001880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00"/>
              </a:lnSpc>
              <a:tabLst>
                <a:tab algn="l" pos="0"/>
              </a:tabLst>
            </a:pPr>
            <a:r>
              <a:rPr b="1" lang="en-US" sz="2550" spc="-1" strike="noStrike">
                <a:solidFill>
                  <a:srgbClr val="532418"/>
                </a:solidFill>
                <a:latin typeface="Marcellus"/>
                <a:ea typeface="Marcellus"/>
              </a:rPr>
              <a:t>3</a:t>
            </a:r>
            <a:r>
              <a:rPr b="0" lang="en-US" sz="2550" spc="-1" strike="noStrike">
                <a:solidFill>
                  <a:srgbClr val="532418"/>
                </a:solidFill>
                <a:latin typeface="Marcellus"/>
                <a:ea typeface="Marcellus"/>
              </a:rPr>
              <a:t> La eficiencia importa Cluster 2: presupuesto moderado, rating alto</a:t>
            </a:r>
            <a:endParaRPr b="0" lang="es-ES" sz="2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6"/>
          <p:cNvSpPr/>
          <p:nvPr/>
        </p:nvSpPr>
        <p:spPr>
          <a:xfrm>
            <a:off x="793800" y="5513040"/>
            <a:ext cx="957636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00"/>
              </a:lnSpc>
              <a:tabLst>
                <a:tab algn="l" pos="0"/>
              </a:tabLst>
            </a:pPr>
            <a:r>
              <a:rPr b="1" lang="en-US" sz="2550" spc="-1" strike="noStrike">
                <a:solidFill>
                  <a:srgbClr val="532418"/>
                </a:solidFill>
                <a:latin typeface="Marcellus"/>
                <a:ea typeface="Marcellus"/>
              </a:rPr>
              <a:t>4</a:t>
            </a:r>
            <a:r>
              <a:rPr b="0" lang="en-US" sz="2550" spc="-1" strike="noStrike">
                <a:solidFill>
                  <a:srgbClr val="532418"/>
                </a:solidFill>
                <a:latin typeface="Marcellus"/>
                <a:ea typeface="Marcellus"/>
              </a:rPr>
              <a:t> Cada estrategia es válida Marvel (Cluster 0) ≠ Indies (Cluster 2)</a:t>
            </a:r>
            <a:endParaRPr b="0" lang="es-ES" sz="2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7"/>
          <p:cNvSpPr/>
          <p:nvPr/>
        </p:nvSpPr>
        <p:spPr>
          <a:xfrm>
            <a:off x="793800" y="6056640"/>
            <a:ext cx="325800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00"/>
              </a:lnSpc>
              <a:tabLst>
                <a:tab algn="l" pos="0"/>
              </a:tabLst>
            </a:pPr>
            <a:r>
              <a:rPr b="1" lang="en-US" sz="2550" spc="-1" strike="noStrike">
                <a:solidFill>
                  <a:srgbClr val="00994c"/>
                </a:solidFill>
                <a:latin typeface="Marcellus"/>
                <a:ea typeface="Marcellus"/>
              </a:rPr>
              <a:t>IMPLICACIÓN CLAVE:</a:t>
            </a:r>
            <a:endParaRPr b="0" lang="es-ES" sz="2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8"/>
          <p:cNvSpPr/>
          <p:nvPr/>
        </p:nvSpPr>
        <p:spPr>
          <a:xfrm>
            <a:off x="793800" y="6600240"/>
            <a:ext cx="524448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00"/>
              </a:lnSpc>
              <a:tabLst>
                <a:tab algn="l" pos="0"/>
              </a:tabLst>
            </a:pPr>
            <a:r>
              <a:rPr b="0" lang="en-US" sz="2550" spc="-1" strike="noStrike">
                <a:solidFill>
                  <a:srgbClr val="532418"/>
                </a:solidFill>
                <a:latin typeface="Marcellus"/>
                <a:ea typeface="Marcellus"/>
              </a:rPr>
              <a:t>No todos los blockbusters necesitan</a:t>
            </a:r>
            <a:endParaRPr b="0" lang="es-ES" sz="2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9"/>
          <p:cNvSpPr/>
          <p:nvPr/>
        </p:nvSpPr>
        <p:spPr>
          <a:xfrm>
            <a:off x="793800" y="7144200"/>
            <a:ext cx="5644440" cy="4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00"/>
              </a:lnSpc>
              <a:tabLst>
                <a:tab algn="l" pos="0"/>
              </a:tabLst>
            </a:pPr>
            <a:r>
              <a:rPr b="0" lang="en-US" sz="2550" spc="-1" strike="noStrike">
                <a:solidFill>
                  <a:srgbClr val="532418"/>
                </a:solidFill>
                <a:latin typeface="Marcellus"/>
                <a:ea typeface="Marcellus"/>
              </a:rPr>
              <a:t>presupuestos gigantescos para triunfar</a:t>
            </a:r>
            <a:endParaRPr b="0" lang="es-ES" sz="25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 0"/>
          <p:cNvSpPr/>
          <p:nvPr/>
        </p:nvSpPr>
        <p:spPr>
          <a:xfrm>
            <a:off x="783000" y="649800"/>
            <a:ext cx="9909000" cy="10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8150"/>
              </a:lnSpc>
              <a:tabLst>
                <a:tab algn="l" pos="0"/>
              </a:tabLst>
            </a:pPr>
            <a:r>
              <a:rPr b="0" lang="en-US" sz="6250" spc="-1" strike="noStrike">
                <a:solidFill>
                  <a:srgbClr val="532418"/>
                </a:solidFill>
                <a:latin typeface="Marcellus"/>
                <a:ea typeface="Marcellus"/>
              </a:rPr>
              <a:t>Pregunta 3: Análisis ANOVA</a:t>
            </a:r>
            <a:endParaRPr b="0" lang="es-ES" sz="62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3" name="Image 0" descr="preencoded.png"/>
          <p:cNvPicPr/>
          <p:nvPr/>
        </p:nvPicPr>
        <p:blipFill>
          <a:blip r:embed="rId1"/>
          <a:stretch/>
        </p:blipFill>
        <p:spPr>
          <a:xfrm>
            <a:off x="783000" y="2249640"/>
            <a:ext cx="7973280" cy="5594400"/>
          </a:xfrm>
          <a:prstGeom prst="rect">
            <a:avLst/>
          </a:prstGeom>
          <a:ln w="0">
            <a:noFill/>
          </a:ln>
        </p:spPr>
      </p:pic>
      <p:sp>
        <p:nvSpPr>
          <p:cNvPr id="204" name="Text 1"/>
          <p:cNvSpPr/>
          <p:nvPr/>
        </p:nvSpPr>
        <p:spPr>
          <a:xfrm>
            <a:off x="10144080" y="2206080"/>
            <a:ext cx="37083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67534f"/>
                </a:solidFill>
                <a:latin typeface="Montserrat"/>
                <a:ea typeface="Montserrat"/>
              </a:rPr>
              <a:t>¿HA CAMBIADO RECAUDACIÓN EN EL TIEMPO?</a:t>
            </a:r>
            <a:endParaRPr b="0" lang="es-E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2"/>
          <p:cNvSpPr/>
          <p:nvPr/>
        </p:nvSpPr>
        <p:spPr>
          <a:xfrm>
            <a:off x="10144080" y="2904120"/>
            <a:ext cx="37083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67534f"/>
                </a:solidFill>
                <a:latin typeface="Montserrat"/>
                <a:ea typeface="Montserrat"/>
              </a:rPr>
              <a:t>RECAUDACIÓN PROMEDIO POR DÉCADA:</a:t>
            </a:r>
            <a:endParaRPr b="0" lang="es-E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3"/>
          <p:cNvSpPr/>
          <p:nvPr/>
        </p:nvSpPr>
        <p:spPr>
          <a:xfrm>
            <a:off x="10144080" y="3601800"/>
            <a:ext cx="370836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67534f"/>
                </a:solidFill>
                <a:latin typeface="Montserrat"/>
                <a:ea typeface="Montserrat"/>
              </a:rPr>
              <a:t>1970s: $550.2M</a:t>
            </a:r>
            <a:endParaRPr b="0" lang="es-E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4"/>
          <p:cNvSpPr/>
          <p:nvPr/>
        </p:nvSpPr>
        <p:spPr>
          <a:xfrm>
            <a:off x="10144080" y="4036680"/>
            <a:ext cx="370836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67534f"/>
                </a:solidFill>
                <a:latin typeface="Montserrat"/>
                <a:ea typeface="Montserrat"/>
              </a:rPr>
              <a:t>1980s: $618.5M</a:t>
            </a:r>
            <a:endParaRPr b="0" lang="es-E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5"/>
          <p:cNvSpPr/>
          <p:nvPr/>
        </p:nvSpPr>
        <p:spPr>
          <a:xfrm>
            <a:off x="10144080" y="4471920"/>
            <a:ext cx="370836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67534f"/>
                </a:solidFill>
                <a:latin typeface="Montserrat"/>
                <a:ea typeface="Montserrat"/>
              </a:rPr>
              <a:t>1990s: $701.3M</a:t>
            </a:r>
            <a:endParaRPr b="0" lang="es-E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6"/>
          <p:cNvSpPr/>
          <p:nvPr/>
        </p:nvSpPr>
        <p:spPr>
          <a:xfrm>
            <a:off x="10144080" y="4906800"/>
            <a:ext cx="370836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67534f"/>
                </a:solidFill>
                <a:latin typeface="Montserrat"/>
                <a:ea typeface="Montserrat"/>
              </a:rPr>
              <a:t>2000s: $742.8M</a:t>
            </a:r>
            <a:endParaRPr b="0" lang="es-E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7"/>
          <p:cNvSpPr/>
          <p:nvPr/>
        </p:nvSpPr>
        <p:spPr>
          <a:xfrm>
            <a:off x="10144080" y="5341680"/>
            <a:ext cx="370836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67534f"/>
                </a:solidFill>
                <a:latin typeface="Montserrat"/>
                <a:ea typeface="Montserrat"/>
              </a:rPr>
              <a:t>2010s: $821.5M MÁS ALTO</a:t>
            </a:r>
            <a:endParaRPr b="0" lang="es-E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8"/>
          <p:cNvSpPr/>
          <p:nvPr/>
        </p:nvSpPr>
        <p:spPr>
          <a:xfrm>
            <a:off x="10144080" y="5776920"/>
            <a:ext cx="370836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67534f"/>
                </a:solidFill>
                <a:latin typeface="Montserrat"/>
                <a:ea typeface="Montserrat"/>
              </a:rPr>
              <a:t>RESULTADO:</a:t>
            </a:r>
            <a:endParaRPr b="0" lang="es-E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9"/>
          <p:cNvSpPr/>
          <p:nvPr/>
        </p:nvSpPr>
        <p:spPr>
          <a:xfrm>
            <a:off x="10144080" y="6211800"/>
            <a:ext cx="370836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67534f"/>
                </a:solidFill>
                <a:latin typeface="Montserrat"/>
                <a:ea typeface="Montserrat"/>
              </a:rPr>
              <a:t>F-statistic significativo (p &lt; 0.001)</a:t>
            </a:r>
            <a:endParaRPr b="0" lang="es-E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10"/>
          <p:cNvSpPr/>
          <p:nvPr/>
        </p:nvSpPr>
        <p:spPr>
          <a:xfrm>
            <a:off x="10144080" y="6646680"/>
            <a:ext cx="370836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67534f"/>
                </a:solidFill>
                <a:latin typeface="Montserrat"/>
                <a:ea typeface="Montserrat"/>
              </a:rPr>
              <a:t>TENDENCIA CRECIENTE clara</a:t>
            </a:r>
            <a:endParaRPr b="0" lang="es-E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11"/>
          <p:cNvSpPr/>
          <p:nvPr/>
        </p:nvSpPr>
        <p:spPr>
          <a:xfrm>
            <a:off x="10144080" y="7081920"/>
            <a:ext cx="370836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67534f"/>
                </a:solidFill>
                <a:latin typeface="Montserrat"/>
                <a:ea typeface="Montserrat"/>
              </a:rPr>
              <a:t>INCREMENTO TOTAL:</a:t>
            </a:r>
            <a:endParaRPr b="0" lang="es-E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12"/>
          <p:cNvSpPr/>
          <p:nvPr/>
        </p:nvSpPr>
        <p:spPr>
          <a:xfrm>
            <a:off x="10144080" y="7516800"/>
            <a:ext cx="370836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67534f"/>
                </a:solidFill>
                <a:latin typeface="Montserrat"/>
                <a:ea typeface="Montserrat"/>
              </a:rPr>
              <a:t>2010s recaudan 49% más que 1970s</a:t>
            </a:r>
            <a:endParaRPr b="0" lang="es-ES" sz="15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/>
          <p:nvPr/>
        </p:nvSpPr>
        <p:spPr>
          <a:xfrm>
            <a:off x="793800" y="662760"/>
            <a:ext cx="952668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7801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532418"/>
                </a:solidFill>
                <a:latin typeface="Marcellus"/>
                <a:ea typeface="Marcellus"/>
              </a:rPr>
              <a:t>Limitaciones y Conclusiones</a:t>
            </a:r>
            <a:endParaRPr b="0" lang="es-E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1"/>
          <p:cNvSpPr/>
          <p:nvPr/>
        </p:nvSpPr>
        <p:spPr>
          <a:xfrm>
            <a:off x="793800" y="1973520"/>
            <a:ext cx="2769120" cy="3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01"/>
              </a:lnSpc>
              <a:tabLst>
                <a:tab algn="l" pos="0"/>
              </a:tabLst>
            </a:pPr>
            <a:r>
              <a:rPr b="1" lang="en-US" sz="2150" spc="-1" strike="noStrike">
                <a:solidFill>
                  <a:srgbClr val="532418"/>
                </a:solidFill>
                <a:latin typeface="Marcellus"/>
                <a:ea typeface="Marcellus"/>
              </a:rPr>
              <a:t>LIMITACIONES:</a:t>
            </a:r>
            <a:endParaRPr b="0" lang="es-ES" sz="2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2"/>
          <p:cNvSpPr/>
          <p:nvPr/>
        </p:nvSpPr>
        <p:spPr>
          <a:xfrm>
            <a:off x="793800" y="2613960"/>
            <a:ext cx="130402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800"/>
              </a:lnSpc>
              <a:buClr>
                <a:srgbClr val="67534f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67534f"/>
                </a:solidFill>
                <a:latin typeface="Montserrat"/>
                <a:ea typeface="Montserrat"/>
              </a:rPr>
              <a:t>Dataset solo Top-10 (sesgo supervivencia)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3"/>
          <p:cNvSpPr/>
          <p:nvPr/>
        </p:nvSpPr>
        <p:spPr>
          <a:xfrm>
            <a:off x="793800" y="2980440"/>
            <a:ext cx="130402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800"/>
              </a:lnSpc>
              <a:buClr>
                <a:srgbClr val="67534f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67534f"/>
                </a:solidFill>
                <a:latin typeface="Montserrat"/>
                <a:ea typeface="Montserrat"/>
              </a:rPr>
              <a:t>Variables limitadas (falta actores, directores)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4"/>
          <p:cNvSpPr/>
          <p:nvPr/>
        </p:nvSpPr>
        <p:spPr>
          <a:xfrm>
            <a:off x="793800" y="3347280"/>
            <a:ext cx="130402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800"/>
              </a:lnSpc>
              <a:buClr>
                <a:srgbClr val="67534f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67534f"/>
                </a:solidFill>
                <a:latin typeface="Montserrat"/>
                <a:ea typeface="Montserrat"/>
              </a:rPr>
              <a:t>Período específico (1977-2019)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5"/>
          <p:cNvSpPr/>
          <p:nvPr/>
        </p:nvSpPr>
        <p:spPr>
          <a:xfrm>
            <a:off x="793800" y="3912840"/>
            <a:ext cx="3712320" cy="3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01"/>
              </a:lnSpc>
              <a:tabLst>
                <a:tab algn="l" pos="0"/>
              </a:tabLst>
            </a:pPr>
            <a:r>
              <a:rPr b="1" lang="en-US" sz="2150" spc="-1" strike="noStrike">
                <a:solidFill>
                  <a:srgbClr val="532418"/>
                </a:solidFill>
                <a:latin typeface="Marcellus"/>
                <a:ea typeface="Marcellus"/>
              </a:rPr>
              <a:t>CONCLUSIONES PRINCIPALES:</a:t>
            </a:r>
            <a:endParaRPr b="0" lang="es-ES" sz="2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6"/>
          <p:cNvSpPr/>
          <p:nvPr/>
        </p:nvSpPr>
        <p:spPr>
          <a:xfrm>
            <a:off x="793800" y="4554000"/>
            <a:ext cx="130402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800"/>
              </a:lnSpc>
              <a:buClr>
                <a:srgbClr val="67534f"/>
              </a:buClr>
              <a:buFont typeface="Calibri Light"/>
              <a:buAutoNum type="arabicPeriod"/>
            </a:pPr>
            <a:r>
              <a:rPr b="0" lang="en-US" sz="1500" spc="-1" strike="noStrike">
                <a:solidFill>
                  <a:srgbClr val="67534f"/>
                </a:solidFill>
                <a:latin typeface="Montserrat"/>
                <a:ea typeface="Montserrat"/>
              </a:rPr>
              <a:t>Presupuesto importante pero no determinante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7"/>
          <p:cNvSpPr/>
          <p:nvPr/>
        </p:nvSpPr>
        <p:spPr>
          <a:xfrm>
            <a:off x="793800" y="4920480"/>
            <a:ext cx="130402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800"/>
              </a:lnSpc>
              <a:buClr>
                <a:srgbClr val="67534f"/>
              </a:buClr>
              <a:buFont typeface="Calibri Light"/>
              <a:buAutoNum type="arabicPeriod" startAt="2"/>
            </a:pPr>
            <a:r>
              <a:rPr b="0" lang="en-US" sz="1500" spc="-1" strike="noStrike">
                <a:solidFill>
                  <a:srgbClr val="67534f"/>
                </a:solidFill>
                <a:latin typeface="Montserrat"/>
                <a:ea typeface="Montserrat"/>
              </a:rPr>
              <a:t>Múltiples caminos al éxito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8"/>
          <p:cNvSpPr/>
          <p:nvPr/>
        </p:nvSpPr>
        <p:spPr>
          <a:xfrm>
            <a:off x="793800" y="5286960"/>
            <a:ext cx="130402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800"/>
              </a:lnSpc>
              <a:buClr>
                <a:srgbClr val="67534f"/>
              </a:buClr>
              <a:buFont typeface="Calibri Light"/>
              <a:buAutoNum type="arabicPeriod" startAt="3"/>
            </a:pPr>
            <a:r>
              <a:rPr b="0" lang="en-US" sz="1500" spc="-1" strike="noStrike">
                <a:solidFill>
                  <a:srgbClr val="67534f"/>
                </a:solidFill>
                <a:latin typeface="Montserrat"/>
                <a:ea typeface="Montserrat"/>
              </a:rPr>
              <a:t>Industria usa estrategias diferenciadas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9"/>
          <p:cNvSpPr/>
          <p:nvPr/>
        </p:nvSpPr>
        <p:spPr>
          <a:xfrm>
            <a:off x="793800" y="5653800"/>
            <a:ext cx="130402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800"/>
              </a:lnSpc>
              <a:buClr>
                <a:srgbClr val="67534f"/>
              </a:buClr>
              <a:buFont typeface="Calibri Light"/>
              <a:buAutoNum type="arabicPeriod" startAt="4"/>
            </a:pPr>
            <a:r>
              <a:rPr b="0" lang="en-US" sz="1500" spc="-1" strike="noStrike">
                <a:solidFill>
                  <a:srgbClr val="67534f"/>
                </a:solidFill>
                <a:latin typeface="Montserrat"/>
                <a:ea typeface="Montserrat"/>
              </a:rPr>
              <a:t>Tendencia creciente temporal clara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10"/>
          <p:cNvSpPr/>
          <p:nvPr/>
        </p:nvSpPr>
        <p:spPr>
          <a:xfrm>
            <a:off x="793800" y="6020280"/>
            <a:ext cx="130402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1800"/>
              </a:lnSpc>
              <a:buClr>
                <a:srgbClr val="67534f"/>
              </a:buClr>
              <a:buFont typeface="Calibri Light"/>
              <a:buAutoNum type="arabicPeriod" startAt="5"/>
            </a:pPr>
            <a:r>
              <a:rPr b="0" lang="en-US" sz="1500" spc="-1" strike="noStrike">
                <a:solidFill>
                  <a:srgbClr val="67534f"/>
                </a:solidFill>
                <a:latin typeface="Montserrat"/>
                <a:ea typeface="Montserrat"/>
              </a:rPr>
              <a:t>Calidad (rating) predice recaudación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11"/>
          <p:cNvSpPr/>
          <p:nvPr/>
        </p:nvSpPr>
        <p:spPr>
          <a:xfrm>
            <a:off x="793800" y="6586200"/>
            <a:ext cx="3041640" cy="3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01"/>
              </a:lnSpc>
              <a:tabLst>
                <a:tab algn="l" pos="0"/>
              </a:tabLst>
            </a:pPr>
            <a:r>
              <a:rPr b="1" lang="en-US" sz="2150" spc="-1" strike="noStrike">
                <a:solidFill>
                  <a:srgbClr val="532418"/>
                </a:solidFill>
                <a:latin typeface="Marcellus"/>
                <a:ea typeface="Marcellus"/>
              </a:rPr>
              <a:t>APLICACIÓN PRÁCTICA:</a:t>
            </a:r>
            <a:endParaRPr b="0" lang="es-ES" sz="2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12"/>
          <p:cNvSpPr/>
          <p:nvPr/>
        </p:nvSpPr>
        <p:spPr>
          <a:xfrm>
            <a:off x="793800" y="7226640"/>
            <a:ext cx="130402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0" lang="en-US" sz="1850" spc="-1" strike="noStrike">
                <a:solidFill>
                  <a:srgbClr val="67534f"/>
                </a:solidFill>
                <a:latin typeface="Montserrat"/>
                <a:ea typeface="Montserrat"/>
              </a:rPr>
              <a:t>Optimize según estrategia, no todos</a:t>
            </a:r>
            <a:endParaRPr b="0" lang="es-E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13"/>
          <p:cNvSpPr/>
          <p:nvPr/>
        </p:nvSpPr>
        <p:spPr>
          <a:xfrm>
            <a:off x="793800" y="7727760"/>
            <a:ext cx="1304028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0" lang="en-US" sz="1850" spc="-1" strike="noStrike">
                <a:solidFill>
                  <a:srgbClr val="67534f"/>
                </a:solidFill>
                <a:latin typeface="Montserrat"/>
                <a:ea typeface="Montserrat"/>
              </a:rPr>
              <a:t>necesitan presupuestazos gigantescos</a:t>
            </a:r>
            <a:endParaRPr b="0" lang="es-ES" sz="18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 0"/>
          <p:cNvSpPr/>
          <p:nvPr/>
        </p:nvSpPr>
        <p:spPr>
          <a:xfrm>
            <a:off x="1134000" y="2342160"/>
            <a:ext cx="984456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301"/>
              </a:lnSpc>
              <a:tabLst>
                <a:tab algn="l" pos="0"/>
              </a:tabLst>
            </a:pPr>
            <a:r>
              <a:rPr b="0" lang="en-US" sz="4100" spc="-1" strike="noStrike">
                <a:solidFill>
                  <a:srgbClr val="532418"/>
                </a:solidFill>
                <a:latin typeface="Marcellus"/>
                <a:ea typeface="Marcellus"/>
              </a:rPr>
              <a:t>"El éxito en cine no es una fórmula única."</a:t>
            </a:r>
            <a:endParaRPr b="0" lang="es-ES" sz="4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Shape 1"/>
          <p:cNvSpPr/>
          <p:nvPr/>
        </p:nvSpPr>
        <p:spPr>
          <a:xfrm>
            <a:off x="793800" y="1982520"/>
            <a:ext cx="28080" cy="1433520"/>
          </a:xfrm>
          <a:prstGeom prst="rect">
            <a:avLst/>
          </a:prstGeom>
          <a:solidFill>
            <a:srgbClr val="ff95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2"/>
          <p:cNvSpPr/>
          <p:nvPr/>
        </p:nvSpPr>
        <p:spPr>
          <a:xfrm>
            <a:off x="793800" y="3688200"/>
            <a:ext cx="1304028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67534f"/>
                </a:solidFill>
                <a:latin typeface="Montserrat"/>
                <a:ea typeface="Montserrat"/>
              </a:rPr>
              <a:t>Los datos muestran múltiples caminos válidos hacia blockbusters exitosos.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3"/>
          <p:cNvSpPr/>
          <p:nvPr/>
        </p:nvSpPr>
        <p:spPr>
          <a:xfrm>
            <a:off x="793800" y="4347000"/>
            <a:ext cx="1304028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67534f"/>
                </a:solidFill>
                <a:latin typeface="Montserrat"/>
                <a:ea typeface="Montserrat"/>
              </a:rPr>
              <a:t>Combinar presupuesto inteligente + buena ejecución + estrategia de mercado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4"/>
          <p:cNvSpPr/>
          <p:nvPr/>
        </p:nvSpPr>
        <p:spPr>
          <a:xfrm>
            <a:off x="793800" y="5006160"/>
            <a:ext cx="1304028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67534f"/>
                </a:solidFill>
                <a:latin typeface="Montserrat"/>
                <a:ea typeface="Montserrat"/>
              </a:rPr>
              <a:t>= películas que recaudan.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5"/>
          <p:cNvSpPr/>
          <p:nvPr/>
        </p:nvSpPr>
        <p:spPr>
          <a:xfrm>
            <a:off x="793800" y="5665320"/>
            <a:ext cx="1304028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67534f"/>
                </a:solidFill>
                <a:latin typeface="Montserrat"/>
                <a:ea typeface="Montserrat"/>
              </a:rPr>
              <a:t>Fuentes: Kaggle | Técnicas: Regresión, Clustering, ANOVA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6"/>
          <p:cNvSpPr/>
          <p:nvPr/>
        </p:nvSpPr>
        <p:spPr>
          <a:xfrm>
            <a:off x="793800" y="6324480"/>
            <a:ext cx="1304028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67534f"/>
                </a:solidFill>
                <a:latin typeface="Montserrat"/>
                <a:ea typeface="Montserrat"/>
              </a:rPr>
              <a:t>Período: 1977-2019 | 430 películas analizadas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2026-01-16T09:16:10Z</dcterms:created>
  <dc:creator/>
  <dc:description/>
  <dc:language>es-ES</dc:language>
  <cp:lastModifiedBy/>
  <dcterms:modified xsi:type="dcterms:W3CDTF">2026-01-18T06:34:21Z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