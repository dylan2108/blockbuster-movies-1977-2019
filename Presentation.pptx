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4630400" cy="8229600"/>
  <p:notesSz cx="8229600" cy="14630400"/>
  <p:embeddedFontLst>
    <p:embeddedFont>
      <p:font typeface="Lora"/>
      <p:regular r:id="rId19"/>
    </p:embeddedFont>
    <p:embeddedFont>
      <p:font typeface="Lora"/>
      <p:regular r:id="rId20"/>
    </p:embeddedFont>
    <p:embeddedFont>
      <p:font typeface="Lora"/>
      <p:regular r:id="rId21"/>
    </p:embeddedFont>
    <p:embeddedFont>
      <p:font typeface="Lora"/>
      <p:regular r:id="rId22"/>
    </p:embeddedFont>
    <p:embeddedFont>
      <p:font typeface="Source Sans 3"/>
      <p:regular r:id="rId23"/>
    </p:embeddedFont>
    <p:embeddedFont>
      <p:font typeface="Source Sans 3"/>
      <p:regular r:id="rId24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3-1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4-1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5-1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7-1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8-1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9-1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0-1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1-1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2-1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3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630680"/>
            <a:ext cx="11502747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44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Análisis Estadístico de Películas Blockbuster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37724" y="2430423"/>
            <a:ext cx="3379470" cy="422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(1977-2019)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837724" y="2948464"/>
            <a:ext cx="5711547" cy="422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Proyecto Final - Estadística Aplicada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837724" y="3466505"/>
            <a:ext cx="5895737" cy="422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Universidad de La Habana | MATCOM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837724" y="4247793"/>
            <a:ext cx="12954952" cy="478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23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Integrantes: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837724" y="4995624"/>
            <a:ext cx="12954952" cy="478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Ronald Provance Valladares C312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837724" y="5557957"/>
            <a:ext cx="12954952" cy="478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Agustin Alberto Carbajal Romero C312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837724" y="6120289"/>
            <a:ext cx="12954952" cy="478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Dylan Ramsés Cabrera Morales C312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279809"/>
            <a:ext cx="8092559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5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Objetivos y Preguntas de Investigación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149441"/>
            <a:ext cx="12954952" cy="344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industria cinematográfica mueve miles de millones de dólares anuales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837724" y="3666411"/>
            <a:ext cx="12954952" cy="344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Entender qué impulsa el éxito es fundamental para productores e inversores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240887"/>
            <a:ext cx="4304705" cy="337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PREGUNTAS DE INVESTIGACIÓN: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37724" y="4808577"/>
            <a:ext cx="12954952" cy="344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50"/>
              </a:lnSpc>
              <a:buSzPct val="100000"/>
              <a:buChar char="•"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¿Qué factores influyen en la recaudación mundial de una película?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37724" y="5206841"/>
            <a:ext cx="12954952" cy="344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50"/>
              </a:lnSpc>
              <a:buSzPct val="100000"/>
              <a:buChar char="•"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¿Podemos identificar clusters de películas según características?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37724" y="5605105"/>
            <a:ext cx="12954952" cy="344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50"/>
              </a:lnSpc>
              <a:buSzPct val="100000"/>
              <a:buChar char="•"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¿Ha cambiado la recaudación promedio a lo largo del tiempo?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601510"/>
            <a:ext cx="4052768" cy="45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8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Descripción del Dataset</a:t>
            </a:r>
            <a:endParaRPr lang="en-US" sz="2850" dirty="0"/>
          </a:p>
        </p:txBody>
      </p:sp>
      <p:sp>
        <p:nvSpPr>
          <p:cNvPr id="3" name="Shape 1"/>
          <p:cNvSpPr/>
          <p:nvPr/>
        </p:nvSpPr>
        <p:spPr>
          <a:xfrm>
            <a:off x="837724" y="2338949"/>
            <a:ext cx="12954952" cy="27027"/>
          </a:xfrm>
          <a:prstGeom prst="rect">
            <a:avLst/>
          </a:prstGeom>
          <a:solidFill>
            <a:srgbClr val="3A3630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37724" y="2517577"/>
            <a:ext cx="2196584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DATASET: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37724" y="2943820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Fuente: Kaggle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7724" y="3314224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Período: 1977-2019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37724" y="3684627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Observaciones: Top 10 películas por año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37724" y="4055031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Total: 430 películas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7724" y="4463415"/>
            <a:ext cx="2642830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VARIABLES PRINCIPALES: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37724" y="4889659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Presupuesto: $15M - $365M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7724" y="5260062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Recaudación: variables de riesgo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7724" y="5630466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Rating IMDb: 1-10 escala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37724" y="6000869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Género: Acción, Drama, Sci-Fi, etc.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7724" y="6371273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Clasificación MPAA: G, PG, PG-13, 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102876"/>
            <a:ext cx="4685586" cy="366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3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Análisis Exploratorio (Estadísticos)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837724" y="1671161"/>
            <a:ext cx="12954952" cy="1980962"/>
          </a:xfrm>
          <a:prstGeom prst="roundRect">
            <a:avLst>
              <a:gd name="adj" fmla="val 117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5344" y="1678781"/>
            <a:ext cx="12939713" cy="39314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00839" y="1747004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VARIABLE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39578" y="1747004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MEDIA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74506" y="1747004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MEDIANA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709434" y="1747004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DESV.EST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5344" y="2071926"/>
            <a:ext cx="12939713" cy="39314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000839" y="2140148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Presupuesto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39578" y="2140148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$108.5M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74506" y="2140148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$100.0M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709434" y="2140148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$67.8M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45344" y="2465070"/>
            <a:ext cx="12939713" cy="39314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00839" y="2533293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Recaudación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39578" y="2533293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$698.0M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74506" y="2533293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$654.0M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709434" y="2533293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$425.0M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45344" y="2858214"/>
            <a:ext cx="12939713" cy="39314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000839" y="2926437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Rating IMDb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239578" y="2926437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6.87/10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74506" y="2926437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6.90/10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709434" y="2926437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0.95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45344" y="3251359"/>
            <a:ext cx="12939713" cy="39314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000839" y="3319582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ROI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239578" y="3319582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6.43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474506" y="3319582"/>
            <a:ext cx="291631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5.52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709434" y="3319582"/>
            <a:ext cx="2920127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6.21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7724" y="3765828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HALLAZGOS: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7724" y="4136231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Presupuestos varían mucho (mín $15M, máx $365M)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37724" y="4428292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Recaudación inconsistente (no siempre sigue presupuesto)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7724" y="4720352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Ratings altos (mayoría 6.5-7.5)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7724" y="5012412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ROI variable: algunos films &gt; 10x inversión</a:t>
            </a:r>
            <a:endParaRPr lang="en-US" sz="120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724" y="5496520"/>
            <a:ext cx="1993583" cy="1516380"/>
          </a:xfrm>
          <a:prstGeom prst="rect">
            <a:avLst/>
          </a:prstGeom>
        </p:spPr>
      </p:pic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018" y="5496520"/>
            <a:ext cx="1993583" cy="1516380"/>
          </a:xfrm>
          <a:prstGeom prst="rect">
            <a:avLst/>
          </a:prstGeom>
        </p:spPr>
      </p:pic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3003" y="5496520"/>
            <a:ext cx="1993583" cy="15163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663422"/>
            <a:ext cx="5324951" cy="45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8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Análisis Exploratorio (Patrones)</a:t>
            </a:r>
            <a:endParaRPr lang="en-US" sz="28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724" y="2386370"/>
            <a:ext cx="3812024" cy="38289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512606" y="2363629"/>
            <a:ext cx="6287691" cy="264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🎬</a:t>
            </a:r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 GÉNEROS MÁS COMUNES: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512606" y="2718911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Acción (32%) | Aventura (28%) | Sci-Fi (18%)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512606" y="3066574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Drama (12%) | Otros (10%)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12606" y="3414236"/>
            <a:ext cx="6287691" cy="264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🎞️</a:t>
            </a:r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 CLASIFICACIÓN MPAA: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512606" y="3769519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PG-13: 45% (público más amplio)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512606" y="4117181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R: 38% (público adulto)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12606" y="4464844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PG: 12% | G: 5%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512606" y="4812506"/>
            <a:ext cx="6287691" cy="264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💡</a:t>
            </a:r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 HALLAZGO CLAVE: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512606" y="5167789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Películas PG-13 tienden a recaudar más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12606" y="5515451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por acceso a audiencia más grande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512606" y="5863114"/>
            <a:ext cx="6287691" cy="264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⚠️</a:t>
            </a:r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 IMPORTANTE: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512606" y="6218396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3241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hay correlación perfecta presupuesto-éxito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660321"/>
            <a:ext cx="6284595" cy="45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8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Pregunta 1: Regresión Lineal Múltiple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837724" y="1320046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¿QUÉ FACTORES IMPULSAN LA RECAUDACIÓN?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37724" y="1690449"/>
            <a:ext cx="12954952" cy="51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 estimó un modelo de regresión lineal múltiple para analizar qué factores influyen en la recaudación mundial de las películas. Se incluyeron variables económicas, de calidad y categóricas.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37724" y="2317552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Las variables categóricas fueron transformadas mediante variables dummy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7724" y="2687955"/>
            <a:ext cx="12954952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Las variables continuas fueron estandarizadas para facilitar la interpretación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37724" y="3058358"/>
            <a:ext cx="12954952" cy="51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Varias variables categóricas (algunos géneros y clasificaciones MPAA) no resultaron estadísticamente significativas. Dichas variables fueron eliminadas progresivamente del modelo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37724" y="3723442"/>
            <a:ext cx="3094434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¿ES CONFIABLE EL MODELO?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37724" y="4240649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INSESGADEZ: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Media de residuos ≈ 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37724" y="4588312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INDEPENDENCIA: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Durbin-Watson ≈ 1.44</a:t>
            </a:r>
            <a:endParaRPr lang="en-US" sz="15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724" y="4958715"/>
            <a:ext cx="3617595" cy="214907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37724" y="7221498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HETEROCEDASTICIDAD: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Detectada (corregida con errores robustos HC3)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12606" y="4240649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MULTICOLINEALIDAD: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Cond.Nº=4.56 &lt;30</a:t>
            </a:r>
            <a:endParaRPr lang="en-US" sz="15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606" y="4611053"/>
            <a:ext cx="3617595" cy="214895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512606" y="6873716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NORMALIDAD: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Test Shapiro-Wilk confirma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994053"/>
            <a:ext cx="3809762" cy="45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8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Pregunta 1: Resultados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837724" y="1704380"/>
            <a:ext cx="2611636" cy="22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RENDIMIENTO DEL MODELO: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37724" y="2034183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R² = 0.697 (explica 69.7% de variabilidad)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37724" y="2381845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F-statistic &lt; 0.001 (altamente significativo)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12606" y="1704380"/>
            <a:ext cx="2756773" cy="22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FACTORES MÁS IMPORTANTES: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512606" y="2034183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PRESUPUESTO: +0.63% por 1% aumento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512606" y="2381845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RATING IMDb: +13% por punto adicional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512606" y="2729508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GÉNERO ANIMACIÓN: +31% vs otros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512606" y="3077170"/>
            <a:ext cx="6287691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CLASIFICACIÓN PG-13: +32% vs otros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7724" y="3576518"/>
            <a:ext cx="1830467" cy="22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CONCLUSIONES: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7724" y="3956923"/>
            <a:ext cx="12954952" cy="770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presupuesto de producción resulta ser el factor más determinante. Los resultados del modelo de regresión muestran que un incremento en el presupuesto se asocia a un aumento significativo en la recaudación mundial, lo que sugiere que las películas con mayores inversiones tienden a contar con mejor promoción y mayor alcance internacional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37724" y="4840724"/>
            <a:ext cx="12954952" cy="51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clasificación IDMb tiene un impacto positivo y estadísticamente significativo. Las películas mejor valoradas por la audiencia tienden a recaudar más, lo que refleja la importancia de la percepción de calidad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7724" y="5467826"/>
            <a:ext cx="12954952" cy="51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clasificación por edades, particularmente la categoría PG-13, influye de manera significativa en la recaudación. Este resultado indica que las películas aptas para un público amplio, pero con un cierto contenido maduro logran un mayor alcance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7724" y="6094928"/>
            <a:ext cx="12954952" cy="51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género cinematográfico también desempeña un papel relevante. En particular las películas de animación presentan una recaudación promedio superior respecto a otros géneros, lo cual puede explicarse por su atractivo para públicos de distintas edades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7724" y="6722031"/>
            <a:ext cx="12954952" cy="51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Estos resultados muestran que el éxito comercial de una película no depende de un solo factor, sino de la interacción entre inversión económica, calidad percibida, accesibilidad al público y características propias del contenido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974169"/>
            <a:ext cx="7641788" cy="45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8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Pregunta 2: Metodología K-Means Clustering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837724" y="1684496"/>
            <a:ext cx="3213021" cy="22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Análisis de Clustering No Supervisado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37724" y="2014299"/>
            <a:ext cx="6287691" cy="1026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Para identificar grupos naturales de películas blockbuster según características de presupuesto, calificación de audiencia y género, aplicamos K-Means clustering, un algoritmo de aprendizaje </a:t>
            </a:r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SUPERVISADO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que descubre patrones multidimensionales sin etiquetas predefinidas.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37724" y="3132058"/>
            <a:ext cx="6287691" cy="1540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Fundamento Teórico: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clustering no supervisado busca estructuras latentes en datos heterogéneos. A diferencia de la regresión (que predice valores) o la clasificación (que etiqueta clases conocidas), K-Means agrupa observaciones en espacios multidimensionales basándose en similitud euclidiana, sin asumir categorías preexistentes.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7724" y="4763214"/>
            <a:ext cx="6287691" cy="1026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Variables y Preprocesamiento: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Presupuesto (film_budget): $20M–$300M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Rating IMDb (imdb_rating): 1.0–10.0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Género (genre_1): 18 géneros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37724" y="5880973"/>
            <a:ext cx="6287691" cy="128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Aplicamos estandarización (StandardScaler, z = (x-μ)/σ) a variables numéricas para garantizar que presupuesto y rating contribuyan </a:t>
            </a:r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EQUILIBRADAMENTE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 Sin normalización, los presupuestos (magnitud millones) dominarían completamente sobre ratings (magnitud unidades). Codificamos categóricamente el género mediante one-hot encoding.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512606" y="1697117"/>
            <a:ext cx="6287691" cy="1980962"/>
          </a:xfrm>
          <a:prstGeom prst="roundRect">
            <a:avLst>
              <a:gd name="adj" fmla="val 117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20226" y="1704737"/>
            <a:ext cx="6272451" cy="39314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7675721" y="1772960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MÉTRICA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815757" y="1772960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VALOR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520226" y="2097881"/>
            <a:ext cx="6272451" cy="39314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7675721" y="2166104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Silhouette Coefficient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815757" y="2166104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0.52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520226" y="2491026"/>
            <a:ext cx="6272451" cy="39314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675721" y="2559248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Davies-Bouldin Index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815757" y="2559248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0.89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520226" y="2884170"/>
            <a:ext cx="6272451" cy="39314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675721" y="2952393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Calinski-Harabasz Index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815757" y="2952393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185.3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520226" y="3277314"/>
            <a:ext cx="6272451" cy="39314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7675721" y="3345537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 Óptimo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815757" y="3345537"/>
            <a:ext cx="2821424" cy="256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 clusters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512606" y="3791783"/>
            <a:ext cx="6287691" cy="770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CLAVE DE DECISIÓN: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CONSENSO ENTRE 3 MÉTRICAS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✓ K = 4 CLUSTERS ÓPTIMOS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12606" y="4652843"/>
            <a:ext cx="6287691" cy="1026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Interpretación de Métricas: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Silhouette = 0.52 (&gt; 0.5 = clusters bien definidos)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Davies-Bouldin = 0.89 (&lt; 1.0 = baja dispersión relativa)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Calinski-Harabasz = 185.3 (máximo en k=2 a k=6)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12606" y="5770602"/>
            <a:ext cx="6287691" cy="1026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Validez Estadística: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</a:t>
            </a:r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CONSENSO PERFECTO</a:t>
            </a:r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entre las tres métricas en k=4 garantiza validez robusta. Este enfoque multi-métrica protege contra artefactos de un único criterio.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6613" y="736640"/>
            <a:ext cx="4233267" cy="287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Pregunta 2: Resultados e Interpretación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6613" y="1151453"/>
            <a:ext cx="5294948" cy="16637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6613" y="2950250"/>
            <a:ext cx="1776532" cy="172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Los 4 Clusters Identificados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26613" y="3148251"/>
            <a:ext cx="2318980" cy="143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Cluster 0 – "Blockbusters Probados" (12.3%)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26613" y="3355658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Presupuesto medio: $178M | Rating medio: 8.1/10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26613" y="3574137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Estrategia: Franquicias consolidadas, equipos de A-list, inversión comprobada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26613" y="3792617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Géneros dominantes: Acción (35%), Ficción Científica (28%)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26613" y="4011097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Característica clave: </a:t>
            </a:r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AMBOS</a:t>
            </a:r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presupuesto </a:t>
            </a:r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</a:t>
            </a:r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rating </a:t>
            </a:r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26613" y="4236006"/>
            <a:ext cx="2123123" cy="143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Cluster 1 – "Apuestas Riesgosas" (20.0%)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26613" y="4443413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Presupuesto medio: $212M | Rating medio: 6.7/10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26613" y="4661892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Estrategia: Inversiones de alto riesgo, experimentos costosos, franquicias en declive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26613" y="4880372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Géneros dominantes: Acción (42%), Ficción Científica (25%)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26613" y="5098852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Característica clave: Presupuesto </a:t>
            </a:r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MUY ALTO</a:t>
            </a:r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pero rating </a:t>
            </a:r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MEDIOCRE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26613" y="5323761"/>
            <a:ext cx="1806297" cy="143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Cluster 2 – "Joyas Ocultas" (23.1%)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26613" y="5531168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Presupuesto medio: $98M | Rating medio: 7.8/10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26613" y="5749647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Estrategia: Eficiencia creativa, dirección talentosa, historias originales bien ejecutadas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26613" y="5968127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Géneros dominantes: Drama (32%), Acción (28%)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26613" y="6186607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Característica clave: PRESUPUESTO </a:t>
            </a:r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MODERADO</a:t>
            </a:r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pero rating </a:t>
            </a:r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ALTO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526613" y="6411516"/>
            <a:ext cx="2902982" cy="143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Cluster 3 – "Entretenimiento Masivo Estándar" (44.6%)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26613" y="6618923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Presupuesto medio: $135M | Rating medio: 7.0/10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26613" y="6837402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Estrategia: Producciones comerciales típicas, inversión equilibrada, apel a audiencias amplias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26613" y="7055882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Géneros: Acción (40%), Drama (20%), Aventura (15%)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26613" y="7274362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Característica clave: Presupuesto </a:t>
            </a:r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PROMEDIO</a:t>
            </a:r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rating </a:t>
            </a:r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PROMEDIO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442121" y="2950250"/>
            <a:ext cx="1150739" cy="143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HALLAZGOS CLAVE: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442121" y="3157657"/>
            <a:ext cx="6669286" cy="483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000"/>
              </a:lnSpc>
              <a:buSzPct val="100000"/>
              <a:buFont typeface="+mj-lt"/>
              <a:buAutoNum type="arabicPeriod" startAt="1"/>
            </a:pPr>
            <a:r>
              <a:rPr lang="en-US" sz="7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PRESUPUESTO ≠ ÉXITO CRÍTICO</a:t>
            </a:r>
            <a:pPr algn="l"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endParaRPr lang="en-US" sz="750" dirty="0"/>
          </a:p>
          <a:p>
            <a:pPr algn="l"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Presupuestos gigantescos ($212M en Cluster 1) generan ratings mediocres (6.7/10), mientras presupuestos moderados ($98M en Cluster 2) logran ratings excelentes (7.8/10).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42121" y="3663791"/>
            <a:ext cx="6669286" cy="322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000"/>
              </a:lnSpc>
              <a:buSzPct val="100000"/>
              <a:buFont typeface="+mj-lt"/>
              <a:buAutoNum type="arabicPeriod" startAt="2"/>
            </a:pPr>
            <a:r>
              <a:rPr lang="en-US" sz="7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HETEROGENEIDAD RACIONAL</a:t>
            </a:r>
            <a:pPr algn="l"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endParaRPr lang="en-US" sz="750" dirty="0"/>
          </a:p>
          <a:p>
            <a:pPr algn="l"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industria explota múltiples modelos simultáneamente porque cada uno maximiza retorno en contextos diferentes.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442121" y="4008596"/>
            <a:ext cx="6669286" cy="483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000"/>
              </a:lnSpc>
              <a:buSzPct val="100000"/>
              <a:buFont typeface="+mj-lt"/>
              <a:buAutoNum type="arabicPeriod" startAt="3"/>
            </a:pPr>
            <a:r>
              <a:rPr lang="en-US" sz="7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GÉNERO-PRESUPUESTO ACOPLAMIENTO</a:t>
            </a:r>
            <a:pPr algn="l"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endParaRPr lang="en-US" sz="750" dirty="0"/>
          </a:p>
          <a:p>
            <a:pPr algn="l"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Acción/Ficción Científica requieren presupuestos altos (VFX costosos), mientras Drama puede lograr excelencia con presupuestos bajos.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7442121" y="4549735"/>
            <a:ext cx="6669286" cy="483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CONCLUSIÓN FINAL:</a:t>
            </a:r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endParaRPr lang="en-US" sz="95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existe fórmula única de éxito. Cada cluster representa un modelo de negocio válido con características interpretables que permiten estratificación competitiva efectiva.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442121" y="5097304"/>
            <a:ext cx="1513761" cy="143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APLICACIONES PRÁCTICAS: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442121" y="5304711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000"/>
              </a:lnSpc>
              <a:buSzPct val="100000"/>
              <a:buChar char="•"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Estratificación competitiva: Benchmarking dentro de clusters relevantes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7442121" y="5488186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000"/>
              </a:lnSpc>
              <a:buSzPct val="100000"/>
              <a:buChar char="•"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Predicción de modelo de modelo de negocio: Nueva película → ¿Cuál cluster?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442121" y="5671661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000"/>
              </a:lnSpc>
              <a:buSzPct val="100000"/>
              <a:buChar char="•"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Análisis de riesgo: Cluster 1 (alto presupuesto, rating bajo) = mayor riesgo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7442121" y="5855137"/>
            <a:ext cx="6669286" cy="161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000"/>
              </a:lnSpc>
              <a:buSzPct val="100000"/>
              <a:buChar char="•"/>
            </a:pPr>
            <a:r>
              <a:rPr lang="en-US" sz="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Decisiones de presupuesto: Género + Cluster → Presupuesto recomendado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980123"/>
            <a:ext cx="5934194" cy="4926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50"/>
              </a:lnSpc>
              <a:buNone/>
            </a:pPr>
            <a:r>
              <a:rPr lang="en-US" sz="31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Pregunta 3: Metodología ANOVA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837724" y="1765935"/>
            <a:ext cx="3201948" cy="246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Análisis de Varianza Unidireccional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37724" y="2129671"/>
            <a:ext cx="6273046" cy="1139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Para responder si la recaudación de blockbusters ha cambiado significativamente a lo largo del tiempo, aplicamos ANOVA unidireccional, una prueba de hipótesis paramétrica que compara medias entre múltiples grupos.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37724" y="3374350"/>
            <a:ext cx="6273046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Planteamiento de Hipótesis: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7724" y="3764637"/>
            <a:ext cx="6273046" cy="569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750"/>
              </a:lnSpc>
              <a:buSzPct val="100000"/>
              <a:buChar char="•"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H₀ (Hipótesis Nula): "La recaudación promedio es igual en todas las décadas"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7724" y="4375190"/>
            <a:ext cx="6273046" cy="569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750"/>
              </a:lnSpc>
              <a:buSzPct val="100000"/>
              <a:buChar char="•"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H₁ (Hipótesis Alternativa): "Al menos una década presenta recaudación promedio diferente"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7724" y="5050274"/>
            <a:ext cx="6273046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Verificación de Supuestos: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37724" y="5440561"/>
            <a:ext cx="6273046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750"/>
              </a:lnSpc>
              <a:buSzPct val="100000"/>
              <a:buChar char="•"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✓ Normalidad (Shapiro-Wilk test)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7724" y="5766316"/>
            <a:ext cx="6273046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750"/>
              </a:lnSpc>
              <a:buSzPct val="100000"/>
              <a:buChar char="•"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✓ Homogeneidad de varianzas (Levene test)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37724" y="6092071"/>
            <a:ext cx="6273046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750"/>
              </a:lnSpc>
              <a:buSzPct val="100000"/>
              <a:buChar char="•"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✓ Nivel de significancia: α = 0.05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7724" y="6482358"/>
            <a:ext cx="6273046" cy="569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estadístico F compara la variabilidad ENTRE décadas respecto a la variabilidad DENTRO de cada década.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527250" y="1780580"/>
            <a:ext cx="6273046" cy="3100626"/>
          </a:xfrm>
          <a:prstGeom prst="roundRect">
            <a:avLst>
              <a:gd name="adj" fmla="val 81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34870" y="1788200"/>
            <a:ext cx="6257806" cy="44076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7702510" y="1866186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MÉTRICA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35164" y="1866186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VALOR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534870" y="2228969"/>
            <a:ext cx="6257806" cy="44076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02510" y="2306955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F-estadístico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835164" y="2306955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5.234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534870" y="2669738"/>
            <a:ext cx="6257806" cy="44076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7702510" y="2747724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p-value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835164" y="2747724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0.0012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534870" y="3110508"/>
            <a:ext cx="6257806" cy="44076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702510" y="3188494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α (Significancia)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835164" y="3188494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0.05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534870" y="3551277"/>
            <a:ext cx="6257806" cy="44076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7702510" y="3629263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Decisión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835164" y="3629263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Rechaza H₀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534870" y="3992047"/>
            <a:ext cx="6257806" cy="44076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7702510" y="4070033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η² (Tamaño efecto)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835164" y="4070033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0.08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534870" y="4432816"/>
            <a:ext cx="6257806" cy="44076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702510" y="4510802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Confianza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0835164" y="4510802"/>
            <a:ext cx="2789992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99.88%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527250" y="5013127"/>
            <a:ext cx="6273046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CLAVE DE DECISIÓN: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527250" y="5403413"/>
            <a:ext cx="6273046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p-value (0.0012) &lt; α (0.05)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527250" y="5793700"/>
            <a:ext cx="6273046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✓ RECHAZA H₀ CON CONTUNDENCIA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527250" y="6183987"/>
            <a:ext cx="6273046" cy="284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Análisis POST-HOC: Tukey HSD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527250" y="6574274"/>
            <a:ext cx="6273046" cy="569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(para identificar exactamente qué pares de décadas difieren significativamente)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5207" y="950476"/>
            <a:ext cx="6549747" cy="44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7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Pregunta 3: Resultados e Interpretación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705207" y="1678067"/>
            <a:ext cx="1777960" cy="222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Hallazgos Principales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05207" y="2013466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Recaudación Promedio por Década: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05207" y="2379821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50"/>
              </a:lnSpc>
              <a:buSzPct val="100000"/>
              <a:buChar char="•"/>
            </a:pPr>
            <a:r>
              <a:rPr lang="en-US" sz="11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1970s: $550.2M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05207" y="2683907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50"/>
              </a:lnSpc>
              <a:buSzPct val="100000"/>
              <a:buChar char="•"/>
            </a:pPr>
            <a:r>
              <a:rPr lang="en-US" sz="11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1980s: $618.5M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05207" y="2987993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50"/>
              </a:lnSpc>
              <a:buSzPct val="100000"/>
              <a:buChar char="•"/>
            </a:pPr>
            <a:r>
              <a:rPr lang="en-US" sz="11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1990s: $701.3M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05207" y="3292078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50"/>
              </a:lnSpc>
              <a:buSzPct val="100000"/>
              <a:buChar char="•"/>
            </a:pPr>
            <a:r>
              <a:rPr lang="en-US" sz="11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2000s: $742.8M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05207" y="3596164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50"/>
              </a:lnSpc>
              <a:buSzPct val="100000"/>
              <a:buChar char="•"/>
            </a:pPr>
            <a:r>
              <a:rPr lang="en-US" sz="11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2010s: $821.5M ← MÁS ALTO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5207" y="3962519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Incremento Total: 2010s recaudan 49% más que 1970s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05207" y="4328874"/>
            <a:ext cx="6425684" cy="793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Conclusión Estadística:</a:t>
            </a:r>
            <a:pPr algn="l" indent="0" marL="0">
              <a:lnSpc>
                <a:spcPts val="2050"/>
              </a:lnSpc>
              <a:buNone/>
            </a:pPr>
            <a:r>
              <a:rPr lang="en-US" sz="14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Con F = 5.234 y p = 0.0012 (p &lt; 0.05), rechazamos contundentemente la hipótesis nula. Existe evidencia estadísticamente significativa de que la recaudación promedio ha cambiado entre décadas.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05207" y="5224105"/>
            <a:ext cx="6425684" cy="13221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Interpretación del Tamaño del Efecto:</a:t>
            </a:r>
            <a:pPr algn="l" indent="0" marL="0">
              <a:lnSpc>
                <a:spcPts val="2050"/>
              </a:lnSpc>
              <a:buNone/>
            </a:pPr>
            <a:r>
              <a:rPr lang="en-US" sz="14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El tamaño del efecto (η² = 0.08) indica que aunque las diferencias son estadísticamente significativas, la década explica aproximadamente el 8% de la variación total en recaudación. Esto sugiere que otros factores (presupuesto, género, rating, clasificación MPAA, etc.) también son determinantes en el éxito comercial de los blockbusters.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5207" y="6648212"/>
            <a:ext cx="6425684" cy="528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CONCLUSIÓN FINAL:</a:t>
            </a:r>
            <a:pPr algn="l" indent="0" marL="0">
              <a:lnSpc>
                <a:spcPts val="2050"/>
              </a:lnSpc>
              <a:buNone/>
            </a:pPr>
            <a:r>
              <a:rPr lang="en-US" sz="14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SÍ hay cambios significativos en recaudación entre décadas, pero la década es solo UNO de varios factores que impulsan el éxito comercial.</a:t>
            </a:r>
            <a:endParaRPr lang="en-US" sz="14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129" y="1692235"/>
            <a:ext cx="4819174" cy="319992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507129" y="5019556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TENDENCIA CRECIENTE CLARA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507129" y="5385911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Confianza: 99.88%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507129" y="5752267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Complemento POST-HOC: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507129" y="6118622"/>
            <a:ext cx="6425684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Tukey HSD identifica pares específicos de décadas con diferencias significativas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78443"/>
            <a:ext cx="6341983" cy="598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37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Limitaciones y Conclusiones</a:t>
            </a:r>
            <a:endParaRPr lang="en-US" sz="3750" dirty="0"/>
          </a:p>
        </p:txBody>
      </p:sp>
      <p:sp>
        <p:nvSpPr>
          <p:cNvPr id="3" name="Text 1"/>
          <p:cNvSpPr/>
          <p:nvPr/>
        </p:nvSpPr>
        <p:spPr>
          <a:xfrm>
            <a:off x="837724" y="1909048"/>
            <a:ext cx="2393752" cy="29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LIMITACIONES: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837724" y="2381131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Dataset solo Top-10 (sesgo supervivencia)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37724" y="2742724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Variables limitadas (falta actores, directores)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7724" y="3104317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Período específico (1977-2019)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37724" y="3578304"/>
            <a:ext cx="3523059" cy="29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CONCLUSIONES PRINCIPALES: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837724" y="4050387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Presupuesto importante pero no determinante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37724" y="4411980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2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Múltiples caminos al éxito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7724" y="4773573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3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Industria usa estrategias diferenciadas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7724" y="5135166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4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Tendencia creciente temporal clara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7724" y="5496758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5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Calidad (rating) predice recaudación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7724" y="5970746"/>
            <a:ext cx="2729389" cy="29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APLICACIÓN PRÁCTICA: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837724" y="6442829"/>
            <a:ext cx="6229350" cy="752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sz="20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Optimize según estrategia, no todos necesitan presupuestazos gigantescos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76103" y="1930718"/>
            <a:ext cx="5924193" cy="95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"El éxito en cine no es una fórmula única."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570946" y="1930718"/>
            <a:ext cx="22860" cy="957501"/>
          </a:xfrm>
          <a:prstGeom prst="rect">
            <a:avLst/>
          </a:prstGeom>
          <a:solidFill>
            <a:srgbClr val="38512F"/>
          </a:solidFill>
          <a:ln/>
        </p:spPr>
      </p:sp>
      <p:sp>
        <p:nvSpPr>
          <p:cNvPr id="17" name="Text 15"/>
          <p:cNvSpPr/>
          <p:nvPr/>
        </p:nvSpPr>
        <p:spPr>
          <a:xfrm>
            <a:off x="7570946" y="3082766"/>
            <a:ext cx="6229350" cy="752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sz="20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Los datos muestran múltiples caminos válidos hacia blockbusters exitosos.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570946" y="3991094"/>
            <a:ext cx="6229350" cy="752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sz="20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Combinar presupuesto inteligente + buena ejecución + estrategia de mercado = películas que recaudan.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570946" y="4899422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Fuentes: Kaggle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570946" y="5261015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Técnicas: Regresión, Clustering, ANOVA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570946" y="5622607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Período: 1977-2019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70946" y="5984200"/>
            <a:ext cx="6229350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430 películas analizadas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2026-01-19T06:59:09Z</dcterms:created>
  <dcterms:modified xsi:type="dcterms:W3CDTF">2026-01-19T06:59:09Z</dcterms:modified>
</cp:coreProperties>
</file>